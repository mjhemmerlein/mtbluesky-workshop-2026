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4" r:id="rId5"/>
    <p:sldId id="275" r:id="rId6"/>
    <p:sldId id="276" r:id="rId7"/>
    <p:sldId id="261" r:id="rId8"/>
    <p:sldId id="264" r:id="rId9"/>
    <p:sldId id="263" r:id="rId10"/>
    <p:sldId id="268" r:id="rId11"/>
    <p:sldId id="277" r:id="rId12"/>
    <p:sldId id="377" r:id="rId13"/>
    <p:sldId id="378" r:id="rId14"/>
    <p:sldId id="379" r:id="rId15"/>
    <p:sldId id="265" r:id="rId16"/>
    <p:sldId id="269" r:id="rId17"/>
    <p:sldId id="271" r:id="rId18"/>
    <p:sldId id="362" r:id="rId19"/>
    <p:sldId id="381" r:id="rId20"/>
    <p:sldId id="380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9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04"/>
    <p:restoredTop sz="94610"/>
  </p:normalViewPr>
  <p:slideViewPr>
    <p:cSldViewPr snapToGrid="0" snapToObjects="1">
      <p:cViewPr>
        <p:scale>
          <a:sx n="101" d="100"/>
          <a:sy n="101" d="100"/>
        </p:scale>
        <p:origin x="1056" y="9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97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Framing: we're at altitude right now as we speak — use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1. Define evolutionary physiology as the 'how' + 'why' fusion. Emphasize physiological traits are selectable traits.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— let students brainstorm freely. Write on this slide or a whiteboard. Push toward completeness, not depth. Correct the '% O2 drops' misconception if it comes up: % is same, partial pressure drops.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76B4E-4199-3FC6-354D-6FF1F4CB9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9BA04D-A256-B953-051C-FB951792B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95C1F1-4BB9-51B8-318F-7A68F52CC0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— let students brainstorm freely. Write on this slide or a whiteboard. Push toward completeness, not depth. Correct the '% O2 drops' misconception if it comes up: % is same, partial pressure drops.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A7C6D-2B57-6D56-54A1-CEF2619890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410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C9BAB-DD8D-57A3-4219-5539F049E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97ED19-78AC-68D2-642A-EAC6FA28D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4CAB3-22B3-7B19-308E-F012B79E3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— let students brainstorm freely. Write on this slide or a whiteboard. Push toward completeness, not depth. Correct the '% O2 drops' misconception if it comes up: % is same, partial pressure drops.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2025A0-CEF2-2DFE-7092-7DAC43C81C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6684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D08B3-5FFA-8C23-625E-8698EAE07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E295C-E0A6-372D-935A-4FB8C5F8ED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A9B783-0AE9-BC60-8EA3-FDCDCCECD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— let students brainstorm freely. Write on this slide or a whiteboard. Push toward completeness, not depth. Correct the '% O2 drops' misconception if it comes up: % is same, partial pressure drops.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5D74C0-3DB1-4A56-DD89-7DA0D1E25F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548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— let students generate categories of possible short-term coping mechanisms before revealing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Deer mice/voles as a model: high SA:V ratio drives strong selection. Classic 4C-chamber studies show these three increases. Winter = nature's cold acclimation experiment.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thermogenic strategies. Shivering = fast but costly; NST = BAT/UCP1, uncouples proton gradient from ATP synthesis to release heat.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— let them wrestle with why adaptation would evolve if plasticity already solves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76777-EA7E-4C06-397C-4A3A4A779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7796A4-50C2-B7C8-0848-A17DFA806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5765D-67E6-CE27-4F80-6640BF625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— let students generate categories of possible short-term coping mechanisms before revealing next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0D5C4-A851-DC0F-17F6-3F48513418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668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3DB77-9E87-259A-4D2E-CE7F0F2F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5FF43-101D-63F1-94B3-F4AF087C5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17D14-898C-A3AE-4B9A-2324C79EF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— let students generate categories of possible short-term coping mechanisms before revealing next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7BDF2-A611-A0FC-813C-4518759915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839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C0056-E53F-3679-18C3-39C19B19B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164A1-4357-E9F7-EFAA-9758BAA11A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AC86D3-3B05-3EBD-C551-976DFD409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— let students generate categories of possible short-term coping mechanisms before revealing next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300BE2-0DB7-11AB-C530-26486999B0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21278A-84A8-BFB0-E968-6C9FD0E40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F4B4B0-A749-7611-74CD-58713E50A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EB96E-1775-8181-3E60-D34D70FC8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BLANK — let students generate categories of possible short-term coping mechanisms before revealing next slide.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5715D-F142-EAB5-2533-C97E66367B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124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cascade for a lowland-native ascending rapidly. Emphasize the mismatch in timescales between the fast ventilatory fix and the slow EPO/RBC response.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cost of plasticity (viscosity/hematocrit), genetic assimilation, plasticity buying time, adaptation+acclimatization coexisting.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independently evolved human solutions — good comparative punchline. Prompt: what does this say about how many ways evolution can solve one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FEB1D-0283-0989-3A13-80B481168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D036-13F3-854E-9740-A9033209DB4E}" type="datetimeFigureOut">
              <a:rPr lang="en-US" smtClean="0"/>
              <a:t>8/5/26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9148E4-FD62-46F1-AC70-718840911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7385E-6CF8-5E42-78E8-7D6F8F3F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87A63-EB20-D640-A8F5-E2A49BB00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1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5486400"/>
            <a:ext cx="3108960" cy="1371600"/>
          </a:xfrm>
          <a:prstGeom prst="triangle">
            <a:avLst/>
          </a:prstGeom>
          <a:solidFill>
            <a:srgbClr val="E8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863840" y="5303520"/>
            <a:ext cx="3291840" cy="1554480"/>
          </a:xfrm>
          <a:prstGeom prst="triangle">
            <a:avLst/>
          </a:prstGeom>
          <a:solidFill>
            <a:srgbClr val="E8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920240" y="4937760"/>
            <a:ext cx="3474720" cy="1920240"/>
          </a:xfrm>
          <a:prstGeom prst="triangle">
            <a:avLst/>
          </a:prstGeom>
          <a:solidFill>
            <a:srgbClr val="7C98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0" y="5120640"/>
            <a:ext cx="3108960" cy="1737360"/>
          </a:xfrm>
          <a:prstGeom prst="triangle">
            <a:avLst/>
          </a:prstGeom>
          <a:solidFill>
            <a:srgbClr val="7C98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480560" y="4572000"/>
            <a:ext cx="3840480" cy="2286000"/>
          </a:xfrm>
          <a:prstGeom prst="triangl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7027" y="2880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D9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FOCUS ON HIGH ALTITUDE ADAPTATION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6067" y="19202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 to Evolutionary Physiology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45809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Evolutionary Physiology?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035040" y="1554480"/>
            <a:ext cx="0" cy="4480560"/>
          </a:xfrm>
          <a:prstGeom prst="line">
            <a:avLst/>
          </a:prstGeom>
          <a:noFill/>
          <a:ln w="12700">
            <a:solidFill>
              <a:srgbClr val="E3E3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1" y="233172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B2B2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Physiology asks </a:t>
            </a:r>
            <a:r>
              <a:rPr lang="en-US" sz="2400" b="1" dirty="0">
                <a:solidFill>
                  <a:srgbClr val="2B2B2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proximate </a:t>
            </a:r>
            <a:r>
              <a:rPr lang="en-US" sz="2400" dirty="0">
                <a:solidFill>
                  <a:srgbClr val="2B2B2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questions about </a:t>
            </a:r>
            <a:r>
              <a:rPr lang="en-US" sz="2400" b="1" dirty="0">
                <a:solidFill>
                  <a:srgbClr val="D97B4F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how</a:t>
            </a:r>
            <a:r>
              <a:rPr lang="en-US" sz="2400" dirty="0">
                <a:solidFill>
                  <a:srgbClr val="2B2B2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a body works.
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2B2B2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Evolution asks </a:t>
            </a:r>
            <a:r>
              <a:rPr lang="en-US" sz="2400" b="1" dirty="0">
                <a:solidFill>
                  <a:srgbClr val="2B2B2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ultimate</a:t>
            </a:r>
            <a:r>
              <a:rPr lang="en-US" sz="2400" dirty="0">
                <a:solidFill>
                  <a:srgbClr val="2B2B2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questions about </a:t>
            </a:r>
            <a:r>
              <a:rPr lang="en-US" sz="2400" b="1" dirty="0">
                <a:solidFill>
                  <a:schemeClr val="accent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why</a:t>
            </a:r>
            <a:r>
              <a:rPr lang="en-US" sz="2400" dirty="0">
                <a:solidFill>
                  <a:srgbClr val="2B2B2B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 organisms change and diversify through time.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FontTx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Physiological traits (e.g. hemoglobin-O</a:t>
            </a:r>
            <a:r>
              <a:rPr lang="en-US" sz="1500" baseline="-250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</a:t>
            </a:r>
            <a:r>
              <a:rPr lang="en-US" sz="15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affinity) are subject to natural selection, just like morphology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Asks why physiological traits/mechanisms exist as they do, not just how they work</a:t>
            </a:r>
          </a:p>
          <a:p>
            <a:pPr marL="800100" lvl="1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Evolutionary physiology can ask about local adaptation (which we will focus on!) </a:t>
            </a:r>
            <a:r>
              <a:rPr lang="en-US" sz="1500" b="1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15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lineage-specific traits and adaptation (like the very cool set-up of bird lungs!) </a:t>
            </a:r>
            <a:r>
              <a:rPr lang="en-US" sz="1500" b="1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</a:t>
            </a:r>
            <a:r>
              <a:rPr lang="en-US" sz="15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patterns in disease (like cancer risk!)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Also studies how physiology can change without any genetic change (i.e., the genetic and evolutionary basis of plasticity!)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3672" y="137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– what are the challenges of high altitudes?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36B202D-716D-DC8D-F860-EA24E40D14B9}"/>
              </a:ext>
            </a:extLst>
          </p:cNvPr>
          <p:cNvSpPr/>
          <p:nvPr/>
        </p:nvSpPr>
        <p:spPr>
          <a:xfrm>
            <a:off x="423672" y="1064029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Physiological challenges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Environmental challenges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selective pressures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9E6BD-0F87-B7DA-6FBF-9C66908BB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4BF05B-FCD8-292E-386D-28D11D31D55C}"/>
              </a:ext>
            </a:extLst>
          </p:cNvPr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8F0BB73-0CC3-FD60-EF73-D8416B3E2AC7}"/>
              </a:ext>
            </a:extLst>
          </p:cNvPr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1150E7-C6EF-409A-FA6E-16D104280297}"/>
              </a:ext>
            </a:extLst>
          </p:cNvPr>
          <p:cNvSpPr/>
          <p:nvPr/>
        </p:nvSpPr>
        <p:spPr>
          <a:xfrm>
            <a:off x="423672" y="137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– what are the challenges of high altitudes?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A64AD134-36E1-AB48-7498-47CB696AFDBB}"/>
              </a:ext>
            </a:extLst>
          </p:cNvPr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432800C-E2E2-1E07-5710-55731E3B4D20}"/>
              </a:ext>
            </a:extLst>
          </p:cNvPr>
          <p:cNvSpPr/>
          <p:nvPr/>
        </p:nvSpPr>
        <p:spPr>
          <a:xfrm>
            <a:off x="423672" y="1064029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Physiological challenges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Environmental challenges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selective pressures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C23F3A9-D038-AB4B-420A-C9084A24CE29}"/>
              </a:ext>
            </a:extLst>
          </p:cNvPr>
          <p:cNvSpPr/>
          <p:nvPr/>
        </p:nvSpPr>
        <p:spPr>
          <a:xfrm>
            <a:off x="135912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EAF2626-E11A-7ACB-1167-D4902E9038BC}"/>
              </a:ext>
            </a:extLst>
          </p:cNvPr>
          <p:cNvSpPr/>
          <p:nvPr/>
        </p:nvSpPr>
        <p:spPr>
          <a:xfrm>
            <a:off x="135912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2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7D62ADDF-9354-A3FA-526B-9EB1F0CF8772}"/>
              </a:ext>
            </a:extLst>
          </p:cNvPr>
          <p:cNvSpPr/>
          <p:nvPr/>
        </p:nvSpPr>
        <p:spPr>
          <a:xfrm>
            <a:off x="83334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PO₂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(hypoxia)</a:t>
            </a:r>
            <a:endParaRPr lang="en-US" sz="125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F2B7F6BC-14DC-4DA8-A358-3BAB9B416CEA}"/>
              </a:ext>
            </a:extLst>
          </p:cNvPr>
          <p:cNvSpPr/>
          <p:nvPr/>
        </p:nvSpPr>
        <p:spPr>
          <a:xfrm>
            <a:off x="314220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1783112-68D2-BAA7-977D-051E6D9A64DB}"/>
              </a:ext>
            </a:extLst>
          </p:cNvPr>
          <p:cNvSpPr/>
          <p:nvPr/>
        </p:nvSpPr>
        <p:spPr>
          <a:xfrm>
            <a:off x="314220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699FB3C-F64D-7380-395A-F278B734F93A}"/>
              </a:ext>
            </a:extLst>
          </p:cNvPr>
          <p:cNvSpPr/>
          <p:nvPr/>
        </p:nvSpPr>
        <p:spPr>
          <a:xfrm>
            <a:off x="261642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2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5AE363A-B10C-3E53-F96D-05137A05E4D6}"/>
              </a:ext>
            </a:extLst>
          </p:cNvPr>
          <p:cNvSpPr/>
          <p:nvPr/>
        </p:nvSpPr>
        <p:spPr>
          <a:xfrm>
            <a:off x="492528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4BA45B2-E719-AAF7-DD4A-308DE8DBC6FB}"/>
              </a:ext>
            </a:extLst>
          </p:cNvPr>
          <p:cNvSpPr/>
          <p:nvPr/>
        </p:nvSpPr>
        <p:spPr>
          <a:xfrm>
            <a:off x="492528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</a:t>
            </a:r>
            <a:endParaRPr lang="en-US" sz="2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304D995-00F4-078A-AB7D-372F75C663EB}"/>
              </a:ext>
            </a:extLst>
          </p:cNvPr>
          <p:cNvSpPr/>
          <p:nvPr/>
        </p:nvSpPr>
        <p:spPr>
          <a:xfrm>
            <a:off x="439950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Aridity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loss</a:t>
            </a:r>
            <a:endParaRPr lang="en-US" sz="125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29D64A88-7BBD-7936-3457-EDC428172FCA}"/>
              </a:ext>
            </a:extLst>
          </p:cNvPr>
          <p:cNvSpPr/>
          <p:nvPr/>
        </p:nvSpPr>
        <p:spPr>
          <a:xfrm>
            <a:off x="670836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967CB92-C719-D054-9349-FC02C293D804}"/>
              </a:ext>
            </a:extLst>
          </p:cNvPr>
          <p:cNvSpPr/>
          <p:nvPr/>
        </p:nvSpPr>
        <p:spPr>
          <a:xfrm>
            <a:off x="670836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2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01C4FB3-34B9-FB16-44A4-A0AF5EFAABDA}"/>
              </a:ext>
            </a:extLst>
          </p:cNvPr>
          <p:cNvSpPr/>
          <p:nvPr/>
        </p:nvSpPr>
        <p:spPr>
          <a:xfrm>
            <a:off x="618258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</a:t>
            </a:r>
            <a:endParaRPr lang="en-US" sz="125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60D2FA5-FA8A-0845-A456-FC2501F99649}"/>
              </a:ext>
            </a:extLst>
          </p:cNvPr>
          <p:cNvSpPr/>
          <p:nvPr/>
        </p:nvSpPr>
        <p:spPr>
          <a:xfrm>
            <a:off x="849144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CC9BE0EF-D060-B003-A8F3-6F9B3E851B3D}"/>
              </a:ext>
            </a:extLst>
          </p:cNvPr>
          <p:cNvSpPr/>
          <p:nvPr/>
        </p:nvSpPr>
        <p:spPr>
          <a:xfrm>
            <a:off x="849144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22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9AE5C47-0221-3648-E9C4-6A7F791A6171}"/>
              </a:ext>
            </a:extLst>
          </p:cNvPr>
          <p:cNvSpPr/>
          <p:nvPr/>
        </p:nvSpPr>
        <p:spPr>
          <a:xfrm>
            <a:off x="796566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air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6AB0844B-20B3-09EA-497F-94351B452001}"/>
              </a:ext>
            </a:extLst>
          </p:cNvPr>
          <p:cNvSpPr/>
          <p:nvPr/>
        </p:nvSpPr>
        <p:spPr>
          <a:xfrm>
            <a:off x="1027452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007D591-6DA5-563E-6FD6-592A99A57EA6}"/>
              </a:ext>
            </a:extLst>
          </p:cNvPr>
          <p:cNvSpPr/>
          <p:nvPr/>
        </p:nvSpPr>
        <p:spPr>
          <a:xfrm>
            <a:off x="1027452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⛰</a:t>
            </a:r>
            <a:endParaRPr lang="en-US" sz="22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ED16E1C-AFE9-847E-5CF4-7DB611D599FE}"/>
              </a:ext>
            </a:extLst>
          </p:cNvPr>
          <p:cNvSpPr/>
          <p:nvPr/>
        </p:nvSpPr>
        <p:spPr>
          <a:xfrm>
            <a:off x="974874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cost</a:t>
            </a:r>
            <a:endParaRPr lang="en-US" sz="12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8A2E8E-AD62-4110-1F47-01C518EB2FE4}"/>
              </a:ext>
            </a:extLst>
          </p:cNvPr>
          <p:cNvSpPr txBox="1"/>
          <p:nvPr/>
        </p:nvSpPr>
        <p:spPr>
          <a:xfrm>
            <a:off x="1691547" y="5075818"/>
            <a:ext cx="8799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1B394A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Which of these is the most salient (most important)?</a:t>
            </a:r>
          </a:p>
        </p:txBody>
      </p:sp>
    </p:spTree>
    <p:extLst>
      <p:ext uri="{BB962C8B-B14F-4D97-AF65-F5344CB8AC3E}">
        <p14:creationId xmlns:p14="http://schemas.microsoft.com/office/powerpoint/2010/main" val="2272245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F8086-E467-F6C1-8F17-AF04FAB46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E5E3519-71E3-4B7C-0105-90C2DC519871}"/>
              </a:ext>
            </a:extLst>
          </p:cNvPr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F86240E-7C08-1FB4-6DCD-1F1762D33E74}"/>
              </a:ext>
            </a:extLst>
          </p:cNvPr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F457384-3C41-ADAC-1562-3377D18605C4}"/>
              </a:ext>
            </a:extLst>
          </p:cNvPr>
          <p:cNvSpPr/>
          <p:nvPr/>
        </p:nvSpPr>
        <p:spPr>
          <a:xfrm>
            <a:off x="423672" y="137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important terminology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0B30E56-BF4B-98FE-AD63-07D9A4B9D734}"/>
              </a:ext>
            </a:extLst>
          </p:cNvPr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  <p:graphicFrame>
        <p:nvGraphicFramePr>
          <p:cNvPr id="25" name="Table 0">
            <a:extLst>
              <a:ext uri="{FF2B5EF4-FFF2-40B4-BE49-F238E27FC236}">
                <a16:creationId xmlns:a16="http://schemas.microsoft.com/office/drawing/2014/main" id="{C116234E-E2BA-BD78-C164-3E00B66B3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559891"/>
              </p:ext>
            </p:extLst>
          </p:nvPr>
        </p:nvGraphicFramePr>
        <p:xfrm>
          <a:off x="548640" y="1600200"/>
          <a:ext cx="11064240" cy="41605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Timescale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Phenotypic plasticity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Acclimation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Acclimatization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5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5D6E-9162-35DE-14B1-77C1D6BCF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117B181-A2FC-89D8-A861-D4F47CE5788D}"/>
              </a:ext>
            </a:extLst>
          </p:cNvPr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E08E874-4960-2364-AE35-BED481F14023}"/>
              </a:ext>
            </a:extLst>
          </p:cNvPr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FF8E40-778C-C4C2-F801-50FF0A3CBD78}"/>
              </a:ext>
            </a:extLst>
          </p:cNvPr>
          <p:cNvSpPr/>
          <p:nvPr/>
        </p:nvSpPr>
        <p:spPr>
          <a:xfrm>
            <a:off x="423672" y="137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– what are the challenges of high altitudes?</a:t>
            </a:r>
            <a:endParaRPr lang="en-US" sz="3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E211B97-6459-81E6-A580-EF3DD80D78A5}"/>
              </a:ext>
            </a:extLst>
          </p:cNvPr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4602D34-D6BE-CB3B-E900-F039DD1B6B40}"/>
              </a:ext>
            </a:extLst>
          </p:cNvPr>
          <p:cNvSpPr/>
          <p:nvPr/>
        </p:nvSpPr>
        <p:spPr>
          <a:xfrm>
            <a:off x="423672" y="1064029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Physiological challenges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Environmental challenges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>
                <a:solidFill>
                  <a:srgbClr val="2B2B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selective pressures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90BEED9-D5CD-A834-4129-AFB7B37E61DD}"/>
              </a:ext>
            </a:extLst>
          </p:cNvPr>
          <p:cNvSpPr/>
          <p:nvPr/>
        </p:nvSpPr>
        <p:spPr>
          <a:xfrm>
            <a:off x="135912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45968D81-537D-B4B3-9404-B45E2E1A7CC1}"/>
              </a:ext>
            </a:extLst>
          </p:cNvPr>
          <p:cNvSpPr/>
          <p:nvPr/>
        </p:nvSpPr>
        <p:spPr>
          <a:xfrm>
            <a:off x="135912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22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2E3D35E-673D-CB70-C5DC-ABF3771C2ADB}"/>
              </a:ext>
            </a:extLst>
          </p:cNvPr>
          <p:cNvSpPr/>
          <p:nvPr/>
        </p:nvSpPr>
        <p:spPr>
          <a:xfrm>
            <a:off x="83334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PO₂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(hypoxia)</a:t>
            </a:r>
            <a:endParaRPr lang="en-US" sz="1250" dirty="0"/>
          </a:p>
        </p:txBody>
      </p:sp>
      <p:sp>
        <p:nvSpPr>
          <p:cNvPr id="8" name="Shape 7">
            <a:extLst>
              <a:ext uri="{FF2B5EF4-FFF2-40B4-BE49-F238E27FC236}">
                <a16:creationId xmlns:a16="http://schemas.microsoft.com/office/drawing/2014/main" id="{2EB4CF6A-A704-CE23-40D4-DFD17BB5BDD6}"/>
              </a:ext>
            </a:extLst>
          </p:cNvPr>
          <p:cNvSpPr/>
          <p:nvPr/>
        </p:nvSpPr>
        <p:spPr>
          <a:xfrm>
            <a:off x="314220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F963ED1-C98F-55FB-7042-908E11497362}"/>
              </a:ext>
            </a:extLst>
          </p:cNvPr>
          <p:cNvSpPr/>
          <p:nvPr/>
        </p:nvSpPr>
        <p:spPr>
          <a:xfrm>
            <a:off x="314220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92161857-60A8-8FF6-CC36-42F4C8FB16F3}"/>
              </a:ext>
            </a:extLst>
          </p:cNvPr>
          <p:cNvSpPr/>
          <p:nvPr/>
        </p:nvSpPr>
        <p:spPr>
          <a:xfrm>
            <a:off x="261642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2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CD19B31-BB1A-B606-978C-46B4519B09C1}"/>
              </a:ext>
            </a:extLst>
          </p:cNvPr>
          <p:cNvSpPr/>
          <p:nvPr/>
        </p:nvSpPr>
        <p:spPr>
          <a:xfrm>
            <a:off x="492528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F271883-D7AF-54E7-0A97-B0C4D3D5EEF3}"/>
              </a:ext>
            </a:extLst>
          </p:cNvPr>
          <p:cNvSpPr/>
          <p:nvPr/>
        </p:nvSpPr>
        <p:spPr>
          <a:xfrm>
            <a:off x="492528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</a:t>
            </a:r>
            <a:endParaRPr lang="en-US" sz="2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F6A7B5C-4CB9-9690-D6EE-8B208EFC8768}"/>
              </a:ext>
            </a:extLst>
          </p:cNvPr>
          <p:cNvSpPr/>
          <p:nvPr/>
        </p:nvSpPr>
        <p:spPr>
          <a:xfrm>
            <a:off x="439950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Aridity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loss</a:t>
            </a:r>
            <a:endParaRPr lang="en-US" sz="125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0E91D2B-3D72-BB22-A571-FEF601A656F9}"/>
              </a:ext>
            </a:extLst>
          </p:cNvPr>
          <p:cNvSpPr/>
          <p:nvPr/>
        </p:nvSpPr>
        <p:spPr>
          <a:xfrm>
            <a:off x="670836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62EFBB8-A475-5178-C7B4-88BD8EA5C145}"/>
              </a:ext>
            </a:extLst>
          </p:cNvPr>
          <p:cNvSpPr/>
          <p:nvPr/>
        </p:nvSpPr>
        <p:spPr>
          <a:xfrm>
            <a:off x="670836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2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6A3FAA7-2266-77F9-9F00-7044570341A6}"/>
              </a:ext>
            </a:extLst>
          </p:cNvPr>
          <p:cNvSpPr/>
          <p:nvPr/>
        </p:nvSpPr>
        <p:spPr>
          <a:xfrm>
            <a:off x="618258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</a:t>
            </a:r>
            <a:endParaRPr lang="en-US" sz="125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2D96B2F-136B-E4B8-A70E-B6C5A43979E3}"/>
              </a:ext>
            </a:extLst>
          </p:cNvPr>
          <p:cNvSpPr/>
          <p:nvPr/>
        </p:nvSpPr>
        <p:spPr>
          <a:xfrm>
            <a:off x="849144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8A7C6B2-1864-1930-12E1-45791A9ED20C}"/>
              </a:ext>
            </a:extLst>
          </p:cNvPr>
          <p:cNvSpPr/>
          <p:nvPr/>
        </p:nvSpPr>
        <p:spPr>
          <a:xfrm>
            <a:off x="849144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22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F83359EC-C8B0-F294-AA58-B2CBB92927AC}"/>
              </a:ext>
            </a:extLst>
          </p:cNvPr>
          <p:cNvSpPr/>
          <p:nvPr/>
        </p:nvSpPr>
        <p:spPr>
          <a:xfrm>
            <a:off x="796566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air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42DEFC8F-A698-4350-50BD-902826407E1B}"/>
              </a:ext>
            </a:extLst>
          </p:cNvPr>
          <p:cNvSpPr/>
          <p:nvPr/>
        </p:nvSpPr>
        <p:spPr>
          <a:xfrm>
            <a:off x="10274529" y="3279372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25A8D0E5-554D-A0C1-EA44-F69EE236EADF}"/>
              </a:ext>
            </a:extLst>
          </p:cNvPr>
          <p:cNvSpPr/>
          <p:nvPr/>
        </p:nvSpPr>
        <p:spPr>
          <a:xfrm>
            <a:off x="10274529" y="32793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⛰</a:t>
            </a:r>
            <a:endParaRPr lang="en-US" sz="22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8D0EDEE-3F5A-9472-0825-59C642563394}"/>
              </a:ext>
            </a:extLst>
          </p:cNvPr>
          <p:cNvSpPr/>
          <p:nvPr/>
        </p:nvSpPr>
        <p:spPr>
          <a:xfrm>
            <a:off x="9748749" y="40291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cost</a:t>
            </a:r>
            <a:endParaRPr lang="en-US" sz="12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40EC77-9524-0DC4-4F43-61BE79EE2667}"/>
              </a:ext>
            </a:extLst>
          </p:cNvPr>
          <p:cNvSpPr txBox="1"/>
          <p:nvPr/>
        </p:nvSpPr>
        <p:spPr>
          <a:xfrm>
            <a:off x="1691547" y="5075818"/>
            <a:ext cx="8799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1B394A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Which of these is the most salient (most important)?</a:t>
            </a:r>
          </a:p>
        </p:txBody>
      </p:sp>
    </p:spTree>
    <p:extLst>
      <p:ext uri="{BB962C8B-B14F-4D97-AF65-F5344CB8AC3E}">
        <p14:creationId xmlns:p14="http://schemas.microsoft.com/office/powerpoint/2010/main" val="953477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94605" y="23545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physiology or behaviors might animals be able to use to </a:t>
            </a:r>
            <a:r>
              <a:rPr lang="en-US" sz="2600" b="1" i="1" u="sng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acclimate</a:t>
            </a: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the challenges of high altitude?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write or sketch responses here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8624E924-E821-95A8-394B-E68A7948E6AC}"/>
              </a:ext>
            </a:extLst>
          </p:cNvPr>
          <p:cNvSpPr/>
          <p:nvPr/>
        </p:nvSpPr>
        <p:spPr>
          <a:xfrm>
            <a:off x="136702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438B88A-6125-2FC3-763D-B9D9FB3ED822}"/>
              </a:ext>
            </a:extLst>
          </p:cNvPr>
          <p:cNvSpPr/>
          <p:nvPr/>
        </p:nvSpPr>
        <p:spPr>
          <a:xfrm>
            <a:off x="136702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2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BD45640-181E-05C2-241A-C0C4EB85A415}"/>
              </a:ext>
            </a:extLst>
          </p:cNvPr>
          <p:cNvSpPr/>
          <p:nvPr/>
        </p:nvSpPr>
        <p:spPr>
          <a:xfrm>
            <a:off x="84124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PO₂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(hypoxia)</a:t>
            </a:r>
            <a:endParaRPr lang="en-US" sz="12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70A20525-73C1-2084-8F14-B6A7E5E39AAF}"/>
              </a:ext>
            </a:extLst>
          </p:cNvPr>
          <p:cNvSpPr/>
          <p:nvPr/>
        </p:nvSpPr>
        <p:spPr>
          <a:xfrm>
            <a:off x="315010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6D167B8B-F2F8-6DD2-ADA9-90E5F902E43C}"/>
              </a:ext>
            </a:extLst>
          </p:cNvPr>
          <p:cNvSpPr/>
          <p:nvPr/>
        </p:nvSpPr>
        <p:spPr>
          <a:xfrm>
            <a:off x="315010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22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427CFE53-0F1A-4B1B-9BA7-9C991C82F379}"/>
              </a:ext>
            </a:extLst>
          </p:cNvPr>
          <p:cNvSpPr/>
          <p:nvPr/>
        </p:nvSpPr>
        <p:spPr>
          <a:xfrm>
            <a:off x="262432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25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E4478B4E-695A-3484-5DC2-935423EB5742}"/>
              </a:ext>
            </a:extLst>
          </p:cNvPr>
          <p:cNvSpPr/>
          <p:nvPr/>
        </p:nvSpPr>
        <p:spPr>
          <a:xfrm>
            <a:off x="493318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8881F8A-D91A-DB91-8AA3-6C6E95D7328E}"/>
              </a:ext>
            </a:extLst>
          </p:cNvPr>
          <p:cNvSpPr/>
          <p:nvPr/>
        </p:nvSpPr>
        <p:spPr>
          <a:xfrm>
            <a:off x="493318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</a:t>
            </a:r>
            <a:endParaRPr lang="en-US" sz="22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636FB8A0-E89A-2ADD-1010-527B683FF70E}"/>
              </a:ext>
            </a:extLst>
          </p:cNvPr>
          <p:cNvSpPr/>
          <p:nvPr/>
        </p:nvSpPr>
        <p:spPr>
          <a:xfrm>
            <a:off x="440740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Aridity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loss</a:t>
            </a:r>
            <a:endParaRPr lang="en-US" sz="125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B775A514-863C-5FF0-3DC4-F2E8022FC946}"/>
              </a:ext>
            </a:extLst>
          </p:cNvPr>
          <p:cNvSpPr/>
          <p:nvPr/>
        </p:nvSpPr>
        <p:spPr>
          <a:xfrm>
            <a:off x="671626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274673F9-646E-4C40-097D-94B64CCA734C}"/>
              </a:ext>
            </a:extLst>
          </p:cNvPr>
          <p:cNvSpPr/>
          <p:nvPr/>
        </p:nvSpPr>
        <p:spPr>
          <a:xfrm>
            <a:off x="671626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22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0C9BD5E8-A339-E16C-F2A8-0D17914C93C3}"/>
              </a:ext>
            </a:extLst>
          </p:cNvPr>
          <p:cNvSpPr/>
          <p:nvPr/>
        </p:nvSpPr>
        <p:spPr>
          <a:xfrm>
            <a:off x="619048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</a:t>
            </a:r>
            <a:endParaRPr lang="en-US" sz="125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BACDD4E7-B35B-E164-E4BF-3DFB0A7C8C81}"/>
              </a:ext>
            </a:extLst>
          </p:cNvPr>
          <p:cNvSpPr/>
          <p:nvPr/>
        </p:nvSpPr>
        <p:spPr>
          <a:xfrm>
            <a:off x="849934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3EE177A-2E8F-B0A0-8102-3DEF6F1B3AD8}"/>
              </a:ext>
            </a:extLst>
          </p:cNvPr>
          <p:cNvSpPr/>
          <p:nvPr/>
        </p:nvSpPr>
        <p:spPr>
          <a:xfrm>
            <a:off x="849934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2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FD20009-0F61-BFBB-C7CB-B306A4D9C217}"/>
              </a:ext>
            </a:extLst>
          </p:cNvPr>
          <p:cNvSpPr/>
          <p:nvPr/>
        </p:nvSpPr>
        <p:spPr>
          <a:xfrm>
            <a:off x="797356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air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5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D8E6DA5A-D1EA-2091-17C0-0F7125063BA8}"/>
              </a:ext>
            </a:extLst>
          </p:cNvPr>
          <p:cNvSpPr/>
          <p:nvPr/>
        </p:nvSpPr>
        <p:spPr>
          <a:xfrm>
            <a:off x="1028242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45F634B0-6794-6E59-EE0A-2F4C3D9DD2EF}"/>
              </a:ext>
            </a:extLst>
          </p:cNvPr>
          <p:cNvSpPr/>
          <p:nvPr/>
        </p:nvSpPr>
        <p:spPr>
          <a:xfrm>
            <a:off x="1028242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⛰</a:t>
            </a:r>
            <a:endParaRPr lang="en-US" sz="22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07AC552B-FD13-5F0E-92F7-6ED1F666F5C9}"/>
              </a:ext>
            </a:extLst>
          </p:cNvPr>
          <p:cNvSpPr/>
          <p:nvPr/>
        </p:nvSpPr>
        <p:spPr>
          <a:xfrm>
            <a:off x="975664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cost</a:t>
            </a:r>
            <a:endParaRPr lang="en-US" sz="12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78C514-F500-37F2-951E-3B6D0519A302}"/>
              </a:ext>
            </a:extLst>
          </p:cNvPr>
          <p:cNvSpPr/>
          <p:nvPr/>
        </p:nvSpPr>
        <p:spPr>
          <a:xfrm>
            <a:off x="4769427" y="1241298"/>
            <a:ext cx="6569133" cy="1813629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19A1CB6-AE83-76FF-79A1-1AD5BD2B13D2}"/>
              </a:ext>
            </a:extLst>
          </p:cNvPr>
          <p:cNvSpPr/>
          <p:nvPr/>
        </p:nvSpPr>
        <p:spPr>
          <a:xfrm>
            <a:off x="505622" y="1340323"/>
            <a:ext cx="2424614" cy="1813629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CASE IN POINT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Acclimation in Small Rodents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5316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Deer mice &amp; voles: high surface-area-to-volume ratio → strong pressure to handle cold efficiently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E8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60120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Brown adipose tissue mass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42519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with cold exposure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46888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E8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34840" y="26060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Mitochondrial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425196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in thermogenic tissue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2468880"/>
            <a:ext cx="3246120" cy="2651760"/>
          </a:xfrm>
          <a:prstGeom prst="roundRect">
            <a:avLst>
              <a:gd name="adj" fmla="val 3448"/>
            </a:avLst>
          </a:prstGeom>
          <a:solidFill>
            <a:srgbClr val="E8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46720" y="26060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B3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8183880" y="36118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Resting metabolic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 cold-chamber study (4°C vs. room temp, weeks) is a strict "acclimation" — winter is nature's version, run on every rodent every year.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429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Acclimation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94211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FBEA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172200" y="1494211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E8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68531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Shivering Thermogenesis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362891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Involuntary muscle contraction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response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Energetically expensive — can't sustain indefinitely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37960" y="1768531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98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Non-Shivering Thermogenesis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362891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brown adipose tissue (BAT)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UCP1 uncouples the mitochondrial proton gradient from ATP synthesis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released as heat instead of ATP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71500" y="137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acclimation already lets individuals cope with the challenges of cold, should genetic adaptation happen at all? 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write or sketch responses here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  <p:pic>
        <p:nvPicPr>
          <p:cNvPr id="10" name="Picture 9" descr="Amazon.com : Bullseye Target Red and White - Shooting - Air Rifle - Archery  Target - Comes with Ground Stake : Sports &amp; Outdoors">
            <a:extLst>
              <a:ext uri="{FF2B5EF4-FFF2-40B4-BE49-F238E27FC236}">
                <a16:creationId xmlns:a16="http://schemas.microsoft.com/office/drawing/2014/main" id="{3CFF552C-9E78-964B-8F46-661BFDE6B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338" y="1567095"/>
            <a:ext cx="4178437" cy="41700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13F024-66AE-FF71-963F-4371F97CDD29}"/>
              </a:ext>
            </a:extLst>
          </p:cNvPr>
          <p:cNvSpPr txBox="1"/>
          <p:nvPr/>
        </p:nvSpPr>
        <p:spPr>
          <a:xfrm>
            <a:off x="6511802" y="1382429"/>
            <a:ext cx="35203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Perfect performance </a:t>
            </a:r>
            <a:r>
              <a:rPr lang="en-US" dirty="0">
                <a:sym typeface="Wingdings" pitchFamily="2" charset="2"/>
              </a:rPr>
              <a:t> best fitness</a:t>
            </a: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D722DFB-DBD5-FBEC-FDB7-C65A7AAD7ECE}"/>
              </a:ext>
            </a:extLst>
          </p:cNvPr>
          <p:cNvCxnSpPr>
            <a:cxnSpLocks/>
          </p:cNvCxnSpPr>
          <p:nvPr/>
        </p:nvCxnSpPr>
        <p:spPr>
          <a:xfrm flipH="1">
            <a:off x="5294556" y="1751761"/>
            <a:ext cx="1703424" cy="190037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70399-9845-5EC0-4F80-84F45318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0EF06EE-A392-60A6-D21B-6F1450D39E4D}"/>
              </a:ext>
            </a:extLst>
          </p:cNvPr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CFE011A-E848-8D31-CA2F-083864C94637}"/>
              </a:ext>
            </a:extLst>
          </p:cNvPr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215C0B-12DB-BE35-C229-CE715EB18F2D}"/>
              </a:ext>
            </a:extLst>
          </p:cNvPr>
          <p:cNvSpPr/>
          <p:nvPr/>
        </p:nvSpPr>
        <p:spPr>
          <a:xfrm>
            <a:off x="494605" y="23545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physiology or behaviors might animals be able to use to </a:t>
            </a:r>
            <a:r>
              <a:rPr lang="en-US" sz="2600" b="1" i="1" u="sng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acclimate</a:t>
            </a: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 the challenges of hypoxia at high altitudes?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A9EA8CC-334E-49FC-98AC-8A6CCE5029D3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write or sketch responses here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B0F3D8C-FF14-BFAE-14CF-FCA09D7A7D4D}"/>
              </a:ext>
            </a:extLst>
          </p:cNvPr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7425EFB0-DEAA-DDEE-BB48-38A1B57D65FC}"/>
              </a:ext>
            </a:extLst>
          </p:cNvPr>
          <p:cNvSpPr/>
          <p:nvPr/>
        </p:nvSpPr>
        <p:spPr>
          <a:xfrm>
            <a:off x="136702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pPr algn="ctr"/>
            <a:endParaRPr lang="en-US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1CC702B1-1F44-E215-EFD2-B5D30BB931AE}"/>
              </a:ext>
            </a:extLst>
          </p:cNvPr>
          <p:cNvSpPr/>
          <p:nvPr/>
        </p:nvSpPr>
        <p:spPr>
          <a:xfrm>
            <a:off x="136702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</a:t>
            </a:r>
            <a:endParaRPr lang="en-US" sz="22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728AD15-B93F-741A-4711-C8321D7231D1}"/>
              </a:ext>
            </a:extLst>
          </p:cNvPr>
          <p:cNvSpPr/>
          <p:nvPr/>
        </p:nvSpPr>
        <p:spPr>
          <a:xfrm>
            <a:off x="84124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PO₂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(hypoxia)</a:t>
            </a:r>
            <a:endParaRPr lang="en-US" sz="125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74F5BA63-E26A-35B8-3C01-17074149E77C}"/>
              </a:ext>
            </a:extLst>
          </p:cNvPr>
          <p:cNvSpPr/>
          <p:nvPr/>
        </p:nvSpPr>
        <p:spPr>
          <a:xfrm>
            <a:off x="315010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BE396846-26D2-63F3-FB64-6AC3CEE64DF6}"/>
              </a:ext>
            </a:extLst>
          </p:cNvPr>
          <p:cNvSpPr/>
          <p:nvPr/>
        </p:nvSpPr>
        <p:spPr>
          <a:xfrm>
            <a:off x="315010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</a:t>
            </a:r>
            <a:endParaRPr lang="en-US" sz="2200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99966CE5-D381-F23E-9C2D-4EC6A611B393}"/>
              </a:ext>
            </a:extLst>
          </p:cNvPr>
          <p:cNvSpPr/>
          <p:nvPr/>
        </p:nvSpPr>
        <p:spPr>
          <a:xfrm>
            <a:off x="262432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25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8932377-37F2-26B7-8686-7100E967BF51}"/>
              </a:ext>
            </a:extLst>
          </p:cNvPr>
          <p:cNvSpPr/>
          <p:nvPr/>
        </p:nvSpPr>
        <p:spPr>
          <a:xfrm>
            <a:off x="493318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DADAD265-5426-C4A4-83A1-C60AF4BD91E5}"/>
              </a:ext>
            </a:extLst>
          </p:cNvPr>
          <p:cNvSpPr/>
          <p:nvPr/>
        </p:nvSpPr>
        <p:spPr>
          <a:xfrm>
            <a:off x="493318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••</a:t>
            </a:r>
            <a:endParaRPr lang="en-US" sz="22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CBED2BCD-699D-73F7-BC76-312129E9D19E}"/>
              </a:ext>
            </a:extLst>
          </p:cNvPr>
          <p:cNvSpPr/>
          <p:nvPr/>
        </p:nvSpPr>
        <p:spPr>
          <a:xfrm>
            <a:off x="440740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Aridity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loss</a:t>
            </a:r>
            <a:endParaRPr lang="en-US" sz="1250" dirty="0"/>
          </a:p>
        </p:txBody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A972776E-353E-E22D-3251-6B33DA88A750}"/>
              </a:ext>
            </a:extLst>
          </p:cNvPr>
          <p:cNvSpPr/>
          <p:nvPr/>
        </p:nvSpPr>
        <p:spPr>
          <a:xfrm>
            <a:off x="671626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4839E0D7-B2E4-D6D2-01B9-98B3DCEBAC37}"/>
              </a:ext>
            </a:extLst>
          </p:cNvPr>
          <p:cNvSpPr/>
          <p:nvPr/>
        </p:nvSpPr>
        <p:spPr>
          <a:xfrm>
            <a:off x="671626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</a:t>
            </a:r>
            <a:endParaRPr lang="en-US" sz="22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5D4A9C43-A21D-8662-1DE5-E0D931B4FA7C}"/>
              </a:ext>
            </a:extLst>
          </p:cNvPr>
          <p:cNvSpPr/>
          <p:nvPr/>
        </p:nvSpPr>
        <p:spPr>
          <a:xfrm>
            <a:off x="619048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</a:t>
            </a:r>
            <a:endParaRPr lang="en-US" sz="125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004A8B2E-5DFB-DC75-BA4F-518269261C5E}"/>
              </a:ext>
            </a:extLst>
          </p:cNvPr>
          <p:cNvSpPr/>
          <p:nvPr/>
        </p:nvSpPr>
        <p:spPr>
          <a:xfrm>
            <a:off x="849934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F098FE1-6C83-94FF-729A-CFD1B4103164}"/>
              </a:ext>
            </a:extLst>
          </p:cNvPr>
          <p:cNvSpPr/>
          <p:nvPr/>
        </p:nvSpPr>
        <p:spPr>
          <a:xfrm>
            <a:off x="849934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</a:t>
            </a:r>
            <a:endParaRPr lang="en-US" sz="220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D88CA8F0-A286-0E81-38A9-2D5A6E3C6462}"/>
              </a:ext>
            </a:extLst>
          </p:cNvPr>
          <p:cNvSpPr/>
          <p:nvPr/>
        </p:nvSpPr>
        <p:spPr>
          <a:xfrm>
            <a:off x="797356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air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250" dirty="0"/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E2C9B7E9-A44D-F72C-E587-5DC93F71B208}"/>
              </a:ext>
            </a:extLst>
          </p:cNvPr>
          <p:cNvSpPr/>
          <p:nvPr/>
        </p:nvSpPr>
        <p:spPr>
          <a:xfrm>
            <a:off x="10282428" y="1469898"/>
            <a:ext cx="640080" cy="640080"/>
          </a:xfrm>
          <a:prstGeom prst="ellipse">
            <a:avLst/>
          </a:prstGeom>
          <a:solidFill>
            <a:srgbClr val="1B3A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67C34450-8CA7-AA07-D5FA-96ECA02437F5}"/>
              </a:ext>
            </a:extLst>
          </p:cNvPr>
          <p:cNvSpPr/>
          <p:nvPr/>
        </p:nvSpPr>
        <p:spPr>
          <a:xfrm>
            <a:off x="10282428" y="146989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⛰</a:t>
            </a:r>
            <a:endParaRPr lang="en-US" sz="2200" dirty="0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68D47FE-5422-3F0E-5311-7069E57C41C3}"/>
              </a:ext>
            </a:extLst>
          </p:cNvPr>
          <p:cNvSpPr/>
          <p:nvPr/>
        </p:nvSpPr>
        <p:spPr>
          <a:xfrm>
            <a:off x="9756648" y="2219706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energetic cost</a:t>
            </a:r>
            <a:endParaRPr lang="en-US" sz="12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4083018-6C36-DA21-40CF-C6A2B346F025}"/>
              </a:ext>
            </a:extLst>
          </p:cNvPr>
          <p:cNvSpPr/>
          <p:nvPr/>
        </p:nvSpPr>
        <p:spPr>
          <a:xfrm>
            <a:off x="4769427" y="1241298"/>
            <a:ext cx="6569133" cy="1813629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7830F9-DCC7-7389-17A7-F57668ABBA40}"/>
              </a:ext>
            </a:extLst>
          </p:cNvPr>
          <p:cNvSpPr/>
          <p:nvPr/>
        </p:nvSpPr>
        <p:spPr>
          <a:xfrm>
            <a:off x="2384715" y="1312891"/>
            <a:ext cx="2424614" cy="1813629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75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6B662-1585-06FF-9324-960ADC29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06EF83-EA1E-6FE8-FA48-58EBCD020DAA}"/>
              </a:ext>
            </a:extLst>
          </p:cNvPr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6A9B272-0249-09A2-E51E-2BFFF39F26D3}"/>
              </a:ext>
            </a:extLst>
          </p:cNvPr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304FB5-878F-F9F2-D6D3-0C71E4B6C909}"/>
              </a:ext>
            </a:extLst>
          </p:cNvPr>
          <p:cNvSpPr/>
          <p:nvPr/>
        </p:nvSpPr>
        <p:spPr>
          <a:xfrm>
            <a:off x="494605" y="23545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of our ancestral responses to hypoxia were to deal with </a:t>
            </a:r>
            <a:r>
              <a:rPr lang="en-US" sz="2600" b="1" u="sng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localized</a:t>
            </a: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hypoxia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94DB99C-768A-4D1D-574C-79957C8DD40C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write or sketch responses here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F34D102-0207-919D-4D86-7ADCEF4D2B09}"/>
              </a:ext>
            </a:extLst>
          </p:cNvPr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19405FB-6788-4E1E-48F7-3F09F3089D76}"/>
              </a:ext>
            </a:extLst>
          </p:cNvPr>
          <p:cNvSpPr/>
          <p:nvPr/>
        </p:nvSpPr>
        <p:spPr>
          <a:xfrm>
            <a:off x="4769427" y="1241298"/>
            <a:ext cx="6569133" cy="1813629"/>
          </a:xfrm>
          <a:prstGeom prst="rect">
            <a:avLst/>
          </a:prstGeom>
          <a:solidFill>
            <a:schemeClr val="bg1">
              <a:alpha val="7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 descr="Images of pulmonary blood flow in damaged lungs.">
            <a:extLst>
              <a:ext uri="{FF2B5EF4-FFF2-40B4-BE49-F238E27FC236}">
                <a16:creationId xmlns:a16="http://schemas.microsoft.com/office/drawing/2014/main" id="{C8B3D2EA-7E3B-1F5F-92CB-3339B1C595C9}"/>
              </a:ext>
            </a:extLst>
          </p:cNvPr>
          <p:cNvGrpSpPr/>
          <p:nvPr/>
        </p:nvGrpSpPr>
        <p:grpSpPr>
          <a:xfrm>
            <a:off x="264206" y="1241298"/>
            <a:ext cx="7315200" cy="5448818"/>
            <a:chOff x="170688" y="544068"/>
            <a:chExt cx="8029448" cy="6146048"/>
          </a:xfrm>
        </p:grpSpPr>
        <p:pic>
          <p:nvPicPr>
            <p:cNvPr id="6" name="Picture 5" descr="Graphical user interface&#10;&#10;Description automatically generated">
              <a:extLst>
                <a:ext uri="{FF2B5EF4-FFF2-40B4-BE49-F238E27FC236}">
                  <a16:creationId xmlns:a16="http://schemas.microsoft.com/office/drawing/2014/main" id="{330897A7-018B-486D-C0FF-04DD0E5E9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7736" y="544068"/>
              <a:ext cx="7772400" cy="5189957"/>
            </a:xfrm>
            <a:prstGeom prst="rect">
              <a:avLst/>
            </a:prstGeom>
          </p:spPr>
        </p:pic>
        <p:pic>
          <p:nvPicPr>
            <p:cNvPr id="7" name="Picture 6" descr="Graphical user interface, text&#10;&#10;Description automatically generated">
              <a:extLst>
                <a:ext uri="{FF2B5EF4-FFF2-40B4-BE49-F238E27FC236}">
                  <a16:creationId xmlns:a16="http://schemas.microsoft.com/office/drawing/2014/main" id="{13936CE0-087B-6E93-2A44-83B5A21534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688" y="5734025"/>
              <a:ext cx="5226093" cy="956091"/>
            </a:xfrm>
            <a:prstGeom prst="rect">
              <a:avLst/>
            </a:prstGeom>
          </p:spPr>
        </p:pic>
      </p:grpSp>
      <p:grpSp>
        <p:nvGrpSpPr>
          <p:cNvPr id="28" name="Group 27" descr="Locally low oxygen causes local vasconstriction, which can result in vascular remodeling over longer timescales.">
            <a:extLst>
              <a:ext uri="{FF2B5EF4-FFF2-40B4-BE49-F238E27FC236}">
                <a16:creationId xmlns:a16="http://schemas.microsoft.com/office/drawing/2014/main" id="{0888B052-5CDA-4055-D887-ABEAABE443B3}"/>
              </a:ext>
            </a:extLst>
          </p:cNvPr>
          <p:cNvGrpSpPr/>
          <p:nvPr/>
        </p:nvGrpSpPr>
        <p:grpSpPr>
          <a:xfrm>
            <a:off x="8312030" y="1835370"/>
            <a:ext cx="2698175" cy="3781332"/>
            <a:chOff x="8916576" y="1328928"/>
            <a:chExt cx="2698175" cy="378133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CED94BA-61D0-FB00-4786-BDCF87AB7AA8}"/>
                </a:ext>
              </a:extLst>
            </p:cNvPr>
            <p:cNvSpPr txBox="1"/>
            <p:nvPr/>
          </p:nvSpPr>
          <p:spPr>
            <a:xfrm>
              <a:off x="9387057" y="1328928"/>
              <a:ext cx="17572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Locally low O</a:t>
              </a:r>
              <a:r>
                <a:rPr lang="en-US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403E88A9-A1F0-2984-B6DA-BAD27AD349D0}"/>
                </a:ext>
              </a:extLst>
            </p:cNvPr>
            <p:cNvCxnSpPr/>
            <p:nvPr/>
          </p:nvCxnSpPr>
          <p:spPr bwMode="auto">
            <a:xfrm>
              <a:off x="10265664" y="1877568"/>
              <a:ext cx="0" cy="987552"/>
            </a:xfrm>
            <a:prstGeom prst="straightConnector1">
              <a:avLst/>
            </a:prstGeom>
            <a:solidFill>
              <a:schemeClr val="accent1"/>
            </a:solidFill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4635B0C-6DCA-B942-F65E-0ACD65C3FF10}"/>
                </a:ext>
              </a:extLst>
            </p:cNvPr>
            <p:cNvSpPr txBox="1"/>
            <p:nvPr/>
          </p:nvSpPr>
          <p:spPr>
            <a:xfrm>
              <a:off x="8916576" y="2954380"/>
              <a:ext cx="2698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Local vasoconstriction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F9A6681-A566-3BE1-94E8-75350108873B}"/>
                </a:ext>
              </a:extLst>
            </p:cNvPr>
            <p:cNvCxnSpPr/>
            <p:nvPr/>
          </p:nvCxnSpPr>
          <p:spPr bwMode="auto">
            <a:xfrm>
              <a:off x="10265664" y="3429000"/>
              <a:ext cx="0" cy="987552"/>
            </a:xfrm>
            <a:prstGeom prst="straightConnector1">
              <a:avLst/>
            </a:prstGeom>
            <a:solidFill>
              <a:schemeClr val="accent1"/>
            </a:solidFill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72C14EF-1253-4EF8-C07E-A92E940DD622}"/>
                </a:ext>
              </a:extLst>
            </p:cNvPr>
            <p:cNvSpPr txBox="1"/>
            <p:nvPr/>
          </p:nvSpPr>
          <p:spPr>
            <a:xfrm>
              <a:off x="9044784" y="4463929"/>
              <a:ext cx="24417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(long term)</a:t>
              </a:r>
            </a:p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Vascular remodeling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6680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A862-0D05-BF54-F091-8971BF43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27392BF-FA3F-A33E-BE71-712000D234C5}"/>
              </a:ext>
            </a:extLst>
          </p:cNvPr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BA71C53-DC08-B0A6-13E5-42596632A914}"/>
              </a:ext>
            </a:extLst>
          </p:cNvPr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04528C6-1886-3179-AF05-D3809B9D3313}"/>
              </a:ext>
            </a:extLst>
          </p:cNvPr>
          <p:cNvSpPr/>
          <p:nvPr/>
        </p:nvSpPr>
        <p:spPr>
          <a:xfrm>
            <a:off x="494605" y="23545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of our ancestral responses to hypoxia were to deal with </a:t>
            </a:r>
            <a:r>
              <a:rPr lang="en-US" sz="2600" b="1" u="sng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localized</a:t>
            </a: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hypoxia … but at high altitude, it’s the whole body!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9794ED1-EE30-70FB-EAB1-8024C707F1A8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write or sketch responses here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58A9FCA-F60C-A91D-03C5-C0D68229812A}"/>
              </a:ext>
            </a:extLst>
          </p:cNvPr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  <p:grpSp>
        <p:nvGrpSpPr>
          <p:cNvPr id="10" name="Group 9" descr="Pervasive low oxygen at high altitudes leads to whole-lung vasoconstriction. Whole lung vasoconstriction results in increased pressure in the lung’s circulation, which can contribute to chronic pulmonary hypertension.">
            <a:extLst>
              <a:ext uri="{FF2B5EF4-FFF2-40B4-BE49-F238E27FC236}">
                <a16:creationId xmlns:a16="http://schemas.microsoft.com/office/drawing/2014/main" id="{57D104C8-17E6-6665-FF1F-CF17F70762BB}"/>
              </a:ext>
            </a:extLst>
          </p:cNvPr>
          <p:cNvGrpSpPr/>
          <p:nvPr/>
        </p:nvGrpSpPr>
        <p:grpSpPr>
          <a:xfrm>
            <a:off x="8048784" y="1333607"/>
            <a:ext cx="3775394" cy="5305591"/>
            <a:chOff x="8048784" y="1187257"/>
            <a:chExt cx="3775394" cy="530947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29F0EAA-D16E-9E7C-00C5-9C48CC7A89FE}"/>
                </a:ext>
              </a:extLst>
            </p:cNvPr>
            <p:cNvSpPr txBox="1"/>
            <p:nvPr/>
          </p:nvSpPr>
          <p:spPr>
            <a:xfrm>
              <a:off x="8850483" y="1187257"/>
              <a:ext cx="20265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Pervasive low O</a:t>
              </a:r>
              <a:r>
                <a:rPr lang="en-US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A905D9C-1149-8CE8-E4E6-7DDCD2B03847}"/>
                </a:ext>
              </a:extLst>
            </p:cNvPr>
            <p:cNvCxnSpPr/>
            <p:nvPr/>
          </p:nvCxnSpPr>
          <p:spPr bwMode="auto">
            <a:xfrm>
              <a:off x="9862004" y="1579918"/>
              <a:ext cx="0" cy="987552"/>
            </a:xfrm>
            <a:prstGeom prst="straightConnector1">
              <a:avLst/>
            </a:prstGeom>
            <a:solidFill>
              <a:schemeClr val="accent1"/>
            </a:solidFill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3A5F5B4-8634-14EB-3C95-D8351A19E160}"/>
                </a:ext>
              </a:extLst>
            </p:cNvPr>
            <p:cNvSpPr txBox="1"/>
            <p:nvPr/>
          </p:nvSpPr>
          <p:spPr>
            <a:xfrm>
              <a:off x="8185905" y="2604735"/>
              <a:ext cx="33522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Whole-lung vasoconstriction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9FCC906-46FD-D2C6-A99E-8B37B41F7427}"/>
                </a:ext>
              </a:extLst>
            </p:cNvPr>
            <p:cNvCxnSpPr/>
            <p:nvPr/>
          </p:nvCxnSpPr>
          <p:spPr bwMode="auto">
            <a:xfrm>
              <a:off x="9862004" y="2985765"/>
              <a:ext cx="0" cy="987552"/>
            </a:xfrm>
            <a:prstGeom prst="straightConnector1">
              <a:avLst/>
            </a:prstGeom>
            <a:solidFill>
              <a:schemeClr val="accent1"/>
            </a:solidFill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15CCF2A-6C32-1DEE-F89A-AE382437744C}"/>
                </a:ext>
              </a:extLst>
            </p:cNvPr>
            <p:cNvSpPr txBox="1"/>
            <p:nvPr/>
          </p:nvSpPr>
          <p:spPr>
            <a:xfrm>
              <a:off x="8048784" y="5573401"/>
              <a:ext cx="3775394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(long term)</a:t>
              </a:r>
            </a:p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Vascular remodeling and</a:t>
              </a:r>
            </a:p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chronic pulmonary hypertension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5B637A5-449D-F12C-65FF-26D24BC90DF0}"/>
                </a:ext>
              </a:extLst>
            </p:cNvPr>
            <p:cNvCxnSpPr/>
            <p:nvPr/>
          </p:nvCxnSpPr>
          <p:spPr bwMode="auto">
            <a:xfrm>
              <a:off x="9862004" y="4596248"/>
              <a:ext cx="0" cy="987552"/>
            </a:xfrm>
            <a:prstGeom prst="straightConnector1">
              <a:avLst/>
            </a:prstGeom>
            <a:solidFill>
              <a:schemeClr val="accent1"/>
            </a:solidFill>
            <a:ln w="762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19AF14E-2592-B61F-B9E3-796C7F178092}"/>
                </a:ext>
              </a:extLst>
            </p:cNvPr>
            <p:cNvSpPr txBox="1"/>
            <p:nvPr/>
          </p:nvSpPr>
          <p:spPr>
            <a:xfrm>
              <a:off x="8429745" y="3956902"/>
              <a:ext cx="28844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Increased pressure in the lung circulation</a:t>
              </a:r>
            </a:p>
          </p:txBody>
        </p:sp>
      </p:grpSp>
      <p:pic>
        <p:nvPicPr>
          <p:cNvPr id="18" name="Picture 2" descr="Graphic showing how oxygen availability decreases with lower pressure at high altitudes.">
            <a:extLst>
              <a:ext uri="{FF2B5EF4-FFF2-40B4-BE49-F238E27FC236}">
                <a16:creationId xmlns:a16="http://schemas.microsoft.com/office/drawing/2014/main" id="{0822378B-0B3E-F429-BEE4-2D4DF9215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24" y="1734455"/>
            <a:ext cx="6719147" cy="3779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7633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FE296-9101-E36E-BC4E-E5E0BDED8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5A49366-6A16-D223-4931-09BFC5B1479F}"/>
              </a:ext>
            </a:extLst>
          </p:cNvPr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0A769A-3BDD-7467-3A42-3A80DFD6A403}"/>
              </a:ext>
            </a:extLst>
          </p:cNvPr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53E8CF9-9042-CBDF-6852-D0C9F36419FE}"/>
              </a:ext>
            </a:extLst>
          </p:cNvPr>
          <p:cNvSpPr/>
          <p:nvPr/>
        </p:nvSpPr>
        <p:spPr>
          <a:xfrm>
            <a:off x="494605" y="235458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of our ancestral responses to hypoxia were to deal with </a:t>
            </a:r>
            <a:r>
              <a:rPr lang="en-US" sz="2600" b="1" u="sng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localized</a:t>
            </a:r>
            <a:r>
              <a:rPr lang="en-US" sz="26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hypoxia … but at high altitude, it’s the whole body!</a:t>
            </a:r>
            <a:endParaRPr lang="en-US" sz="2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1EBA997-9E61-1C5A-A8F9-489417CC04F8}"/>
              </a:ext>
            </a:extLst>
          </p:cNvPr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— write or sketch responses here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766574-62D3-0B87-2823-B1F02A46C7DF}"/>
              </a:ext>
            </a:extLst>
          </p:cNvPr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  <p:pic>
        <p:nvPicPr>
          <p:cNvPr id="4" name="Picture 2" descr="Diagram showing how pulmonary hypertension affects the heart.">
            <a:extLst>
              <a:ext uri="{FF2B5EF4-FFF2-40B4-BE49-F238E27FC236}">
                <a16:creationId xmlns:a16="http://schemas.microsoft.com/office/drawing/2014/main" id="{311DFB0E-DB73-2FD7-E2AA-266CEC120D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8"/>
          <a:stretch>
            <a:fillRect/>
          </a:stretch>
        </p:blipFill>
        <p:spPr bwMode="auto">
          <a:xfrm>
            <a:off x="1545590" y="1596044"/>
            <a:ext cx="9290050" cy="4347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6601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54197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Hypoxia Response Cascade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066107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lowland-native ascending rapidly: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2391987"/>
            <a:ext cx="8366760" cy="0"/>
          </a:xfrm>
          <a:prstGeom prst="line">
            <a:avLst/>
          </a:prstGeom>
          <a:noFill/>
          <a:ln w="25400">
            <a:solidFill>
              <a:srgbClr val="7C98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22960" y="2209107"/>
            <a:ext cx="365760" cy="365760"/>
          </a:xfrm>
          <a:prstGeom prst="ellipse">
            <a:avLst/>
          </a:prstGeom>
          <a:solidFill>
            <a:srgbClr val="D97B4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60467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Minutes–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2757747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Hyperventilation (carotid body senses low PO₂); heart rate &amp; cardiac output rise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520440" y="2209107"/>
            <a:ext cx="365760" cy="365760"/>
          </a:xfrm>
          <a:prstGeom prst="ellipse">
            <a:avLst/>
          </a:prstGeom>
          <a:solidFill>
            <a:srgbClr val="D97B4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46120" y="1660467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Hours–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757747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washout → respiratory alkalosis; kidneys begin excreting bicarbonate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2209107"/>
            <a:ext cx="365760" cy="365760"/>
          </a:xfrm>
          <a:prstGeom prst="ellipse">
            <a:avLst/>
          </a:prstGeom>
          <a:solidFill>
            <a:srgbClr val="D97B4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1660467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89320" y="2757747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Kidney releases EPO → stimulates red blood cell production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15400" y="2209107"/>
            <a:ext cx="365760" cy="365760"/>
          </a:xfrm>
          <a:prstGeom prst="ellipse">
            <a:avLst/>
          </a:prstGeom>
          <a:solidFill>
            <a:srgbClr val="D97B4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41080" y="1660467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Weeks–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0" y="2757747"/>
            <a:ext cx="2514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Hematocrit rises meaningfully; capillary density &amp; mitochondrial changes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87FB2B94-B901-3441-56DF-F7DBFF66D399}"/>
              </a:ext>
            </a:extLst>
          </p:cNvPr>
          <p:cNvSpPr/>
          <p:nvPr/>
        </p:nvSpPr>
        <p:spPr>
          <a:xfrm>
            <a:off x="548640" y="3534986"/>
            <a:ext cx="5349240" cy="2225733"/>
          </a:xfrm>
          <a:prstGeom prst="roundRect">
            <a:avLst>
              <a:gd name="adj" fmla="val 2273"/>
            </a:avLst>
          </a:prstGeom>
          <a:solidFill>
            <a:srgbClr val="FBEA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A8C27C87-D41B-CABA-525D-707EAB4923EA}"/>
              </a:ext>
            </a:extLst>
          </p:cNvPr>
          <p:cNvSpPr/>
          <p:nvPr/>
        </p:nvSpPr>
        <p:spPr>
          <a:xfrm>
            <a:off x="914400" y="371537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7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fix</a:t>
            </a:r>
            <a:endParaRPr lang="en-US" sz="18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7577E3C1-9EDE-6DF5-4CA1-2FF49916B714}"/>
              </a:ext>
            </a:extLst>
          </p:cNvPr>
          <p:cNvSpPr/>
          <p:nvPr/>
        </p:nvSpPr>
        <p:spPr>
          <a:xfrm>
            <a:off x="914400" y="4309737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Hyperventilation kicks in within minutes to raise blood O₂</a:t>
            </a:r>
            <a:endParaRPr lang="en-US" sz="145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B04EFF62-0DF5-F68B-63CF-AD42598EBBCD}"/>
              </a:ext>
            </a:extLst>
          </p:cNvPr>
          <p:cNvSpPr/>
          <p:nvPr/>
        </p:nvSpPr>
        <p:spPr>
          <a:xfrm>
            <a:off x="6172200" y="3534986"/>
            <a:ext cx="5349240" cy="2225734"/>
          </a:xfrm>
          <a:prstGeom prst="roundRect">
            <a:avLst>
              <a:gd name="adj" fmla="val 2273"/>
            </a:avLst>
          </a:prstGeom>
          <a:solidFill>
            <a:srgbClr val="E8EE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E9AC1B32-B73B-DD30-BE13-C3C53780A258}"/>
              </a:ext>
            </a:extLst>
          </p:cNvPr>
          <p:cNvSpPr/>
          <p:nvPr/>
        </p:nvSpPr>
        <p:spPr>
          <a:xfrm>
            <a:off x="6492240" y="3715377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98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cost</a:t>
            </a:r>
            <a:endParaRPr lang="en-US" sz="180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D864A2EC-5BC0-08B5-236F-05591D3CB97A}"/>
              </a:ext>
            </a:extLst>
          </p:cNvPr>
          <p:cNvSpPr/>
          <p:nvPr/>
        </p:nvSpPr>
        <p:spPr>
          <a:xfrm>
            <a:off x="6492240" y="4309737"/>
            <a:ext cx="4572000" cy="16367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blood pH (respiratory alkalosis)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system is tuned to a specific pH 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itchFamily="2" charset="2"/>
              </a:rPr>
              <a:t>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ripple effects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Acute Mountain Sickness (AMS)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Adaptation &amp; the Cost of Plasticity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11064240" cy="481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Plasticity can still be good!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When plasticity is adaptive, that trait can get “fixed” (plasticity is lost)</a:t>
            </a:r>
          </a:p>
          <a:p>
            <a:pPr marL="800100" lvl="1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u="sng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Genetic assimilation</a:t>
            </a: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: a plastic response becomes constitutively expressed / genetically fixed over generations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Plasticity can simply buy time for genetic adaptation to catch up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endParaRPr lang="en-US" dirty="0">
              <a:solidFill>
                <a:srgbClr val="2B2B2B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endParaRPr lang="en-US" dirty="0">
              <a:solidFill>
                <a:srgbClr val="2B2B2B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But adaptation can out-compete it …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Many acclimatized responses carry a cost </a:t>
            </a:r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Pulmonary hypertension leads to right ventricle hypertrophy and pulmonary edema</a:t>
            </a:r>
          </a:p>
          <a:p>
            <a:pPr marL="800100" lvl="1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chronically thick blood (elevated hematocrit) raises stroke/clot risk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Genetic adaptation can generate better solutions that avoid these negative effects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dirty="0">
                <a:solidFill>
                  <a:srgbClr val="2B2B2B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Adaptation and acclimatization aren't mutually exclusive — adapted populations still acclimatize!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28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Human Populations, Three Solutions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420449"/>
              </p:ext>
            </p:extLst>
          </p:nvPr>
        </p:nvGraphicFramePr>
        <p:xfrm>
          <a:off x="548640" y="1502454"/>
          <a:ext cx="11064240" cy="36576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signal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Tibetan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EPAS1 variant (traced to Denisovan introgression)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Dampens RBC increase — avoids blood-viscosity cost; high resting ventilation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Andean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loci from Tibetan populations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Elevated hemoglobin/hematocrit, closer to typical acclimatization response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Ethiopian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loci again; not fully resolved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hemoglobin levels despite altitude — mechanism still being studied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9144000" y="6528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Blue Sky Workshop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8EBDF-2075-2D18-9D62-B99AD6A28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Photo of a deer mouse">
            <a:extLst>
              <a:ext uri="{FF2B5EF4-FFF2-40B4-BE49-F238E27FC236}">
                <a16:creationId xmlns:a16="http://schemas.microsoft.com/office/drawing/2014/main" id="{8E61C341-81DA-FCE0-7437-F80E6EFF5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7120" y="2179621"/>
            <a:ext cx="4011168" cy="3008376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656E94C-47A7-4B71-C332-0CADCDD6A33C}"/>
              </a:ext>
            </a:extLst>
          </p:cNvPr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A4535C0D-9631-328C-375D-36CE98AE8AF5}"/>
              </a:ext>
            </a:extLst>
          </p:cNvPr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EE7D01F-B2F1-B3B2-F307-5EC81B0E37A5}"/>
              </a:ext>
            </a:extLst>
          </p:cNvPr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study evolutionary physiology?</a:t>
            </a:r>
            <a:endParaRPr lang="en-US" sz="32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A13042-E9F9-9846-1E72-95F72FE03071}"/>
              </a:ext>
            </a:extLst>
          </p:cNvPr>
          <p:cNvCxnSpPr/>
          <p:nvPr/>
        </p:nvCxnSpPr>
        <p:spPr>
          <a:xfrm>
            <a:off x="2900855" y="3683809"/>
            <a:ext cx="0" cy="26434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A5B211-B0A3-9F7B-7E86-5AD255346343}"/>
              </a:ext>
            </a:extLst>
          </p:cNvPr>
          <p:cNvCxnSpPr/>
          <p:nvPr/>
        </p:nvCxnSpPr>
        <p:spPr>
          <a:xfrm>
            <a:off x="4367048" y="3683808"/>
            <a:ext cx="0" cy="26434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597398-B453-8A0D-6E01-12763C603B1E}"/>
              </a:ext>
            </a:extLst>
          </p:cNvPr>
          <p:cNvCxnSpPr>
            <a:cxnSpLocks/>
          </p:cNvCxnSpPr>
          <p:nvPr/>
        </p:nvCxnSpPr>
        <p:spPr>
          <a:xfrm>
            <a:off x="1395353" y="4175813"/>
            <a:ext cx="409104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7A64716-C06F-8469-47AF-73EB66D1C951}"/>
              </a:ext>
            </a:extLst>
          </p:cNvPr>
          <p:cNvCxnSpPr>
            <a:cxnSpLocks/>
          </p:cNvCxnSpPr>
          <p:nvPr/>
        </p:nvCxnSpPr>
        <p:spPr>
          <a:xfrm>
            <a:off x="1395353" y="5347717"/>
            <a:ext cx="41646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ACE3033-BDC7-78A3-414A-DD642B64D416}"/>
              </a:ext>
            </a:extLst>
          </p:cNvPr>
          <p:cNvSpPr txBox="1"/>
          <p:nvPr/>
        </p:nvSpPr>
        <p:spPr>
          <a:xfrm>
            <a:off x="1542222" y="3806481"/>
            <a:ext cx="1206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4CDA6D-4705-CB84-7AAD-3F983BBFA053}"/>
              </a:ext>
            </a:extLst>
          </p:cNvPr>
          <p:cNvSpPr txBox="1"/>
          <p:nvPr/>
        </p:nvSpPr>
        <p:spPr>
          <a:xfrm>
            <a:off x="1592420" y="3585454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treatment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D29B26-7DCF-790E-9D9D-ABD2DF77ADC6}"/>
              </a:ext>
            </a:extLst>
          </p:cNvPr>
          <p:cNvSpPr txBox="1"/>
          <p:nvPr/>
        </p:nvSpPr>
        <p:spPr>
          <a:xfrm>
            <a:off x="1546326" y="4480901"/>
            <a:ext cx="1198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Lowlander</a:t>
            </a:r>
          </a:p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(Nebraska)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CFACB17-D136-02C4-72B8-6AF7F03C8281}"/>
              </a:ext>
            </a:extLst>
          </p:cNvPr>
          <p:cNvSpPr txBox="1"/>
          <p:nvPr/>
        </p:nvSpPr>
        <p:spPr>
          <a:xfrm>
            <a:off x="1428152" y="5520317"/>
            <a:ext cx="1435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Highlander</a:t>
            </a:r>
          </a:p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(Mt Blue Sky)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D81E77-B422-6BC2-5A18-DDF325A82786}"/>
              </a:ext>
            </a:extLst>
          </p:cNvPr>
          <p:cNvSpPr txBox="1"/>
          <p:nvPr/>
        </p:nvSpPr>
        <p:spPr>
          <a:xfrm>
            <a:off x="3079041" y="3585454"/>
            <a:ext cx="1136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Normoxia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D9E781-807C-2910-A5F6-7777C1C5F36E}"/>
              </a:ext>
            </a:extLst>
          </p:cNvPr>
          <p:cNvSpPr txBox="1"/>
          <p:nvPr/>
        </p:nvSpPr>
        <p:spPr>
          <a:xfrm>
            <a:off x="4465168" y="3585454"/>
            <a:ext cx="1136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Hypoxia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803CAC3-4494-BECC-5BD3-F7C33E04828B}"/>
              </a:ext>
            </a:extLst>
          </p:cNvPr>
          <p:cNvCxnSpPr>
            <a:stCxn id="21" idx="3"/>
          </p:cNvCxnSpPr>
          <p:nvPr/>
        </p:nvCxnSpPr>
        <p:spPr>
          <a:xfrm>
            <a:off x="2728437" y="3770120"/>
            <a:ext cx="1347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B989D7F-CDE7-9E95-C4B7-68116EBF3B10}"/>
              </a:ext>
            </a:extLst>
          </p:cNvPr>
          <p:cNvCxnSpPr>
            <a:cxnSpLocks/>
          </p:cNvCxnSpPr>
          <p:nvPr/>
        </p:nvCxnSpPr>
        <p:spPr>
          <a:xfrm>
            <a:off x="1592420" y="3913400"/>
            <a:ext cx="0" cy="155494"/>
          </a:xfrm>
          <a:prstGeom prst="straightConnector1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B344124-E7DA-3142-6533-4B91E65633E2}"/>
              </a:ext>
            </a:extLst>
          </p:cNvPr>
          <p:cNvSpPr txBox="1"/>
          <p:nvPr/>
        </p:nvSpPr>
        <p:spPr>
          <a:xfrm>
            <a:off x="743717" y="1039791"/>
            <a:ext cx="5352283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Common garden experiments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scientific method where organisms from different distinct geographic locations or populations are raised together in a single, shared environment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can then expose subjects to specific, highly controlled conditions and look at plasticity (acclimation) responses</a:t>
            </a:r>
          </a:p>
        </p:txBody>
      </p:sp>
    </p:spTree>
    <p:extLst>
      <p:ext uri="{BB962C8B-B14F-4D97-AF65-F5344CB8AC3E}">
        <p14:creationId xmlns:p14="http://schemas.microsoft.com/office/powerpoint/2010/main" val="41175484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13733-BB77-54A2-0A4E-3A4BD9C8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C6335A5-1A07-DB0C-5B1A-8498617824A9}"/>
              </a:ext>
            </a:extLst>
          </p:cNvPr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7F7CE094-66B2-4BBD-5325-20C7BB4F198B}"/>
              </a:ext>
            </a:extLst>
          </p:cNvPr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BF0000-BEE3-9E3A-2DD7-4FF56B31ADA2}"/>
              </a:ext>
            </a:extLst>
          </p:cNvPr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study evolutionary physiology?</a:t>
            </a:r>
            <a:endParaRPr lang="en-US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67365B-39C1-F69E-3224-75310BF0D6BB}"/>
              </a:ext>
            </a:extLst>
          </p:cNvPr>
          <p:cNvSpPr txBox="1"/>
          <p:nvPr/>
        </p:nvSpPr>
        <p:spPr>
          <a:xfrm>
            <a:off x="743717" y="1039791"/>
            <a:ext cx="5352283" cy="2436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Common garden experiments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scientific method where organisms from different distinct geographic locations or populations are raised together in a single, shared environment</a:t>
            </a:r>
          </a:p>
          <a:p>
            <a:pPr marL="342900" indent="-342900">
              <a:spcAft>
                <a:spcPts val="500"/>
              </a:spcAft>
              <a:buSzPct val="100000"/>
              <a:buFontTx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We can then expose subjects to specific, highly controlled conditions and look at plasticity (acclimation) responses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726601-81B2-B662-906F-5180DB01B678}"/>
              </a:ext>
            </a:extLst>
          </p:cNvPr>
          <p:cNvCxnSpPr/>
          <p:nvPr/>
        </p:nvCxnSpPr>
        <p:spPr>
          <a:xfrm>
            <a:off x="2900855" y="3683809"/>
            <a:ext cx="0" cy="26434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541361-028E-500F-3C49-B083651864F5}"/>
              </a:ext>
            </a:extLst>
          </p:cNvPr>
          <p:cNvCxnSpPr/>
          <p:nvPr/>
        </p:nvCxnSpPr>
        <p:spPr>
          <a:xfrm>
            <a:off x="4367048" y="3683808"/>
            <a:ext cx="0" cy="264341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DC423F-5BEA-4BE6-9078-0143D5B3D234}"/>
              </a:ext>
            </a:extLst>
          </p:cNvPr>
          <p:cNvCxnSpPr>
            <a:cxnSpLocks/>
          </p:cNvCxnSpPr>
          <p:nvPr/>
        </p:nvCxnSpPr>
        <p:spPr>
          <a:xfrm>
            <a:off x="1395353" y="4175813"/>
            <a:ext cx="409104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F7A27E5-3BC6-22DF-7122-E635C61F1719}"/>
              </a:ext>
            </a:extLst>
          </p:cNvPr>
          <p:cNvCxnSpPr>
            <a:cxnSpLocks/>
          </p:cNvCxnSpPr>
          <p:nvPr/>
        </p:nvCxnSpPr>
        <p:spPr>
          <a:xfrm>
            <a:off x="1395353" y="5347717"/>
            <a:ext cx="416461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6232472-2900-314C-285F-626C18E19540}"/>
              </a:ext>
            </a:extLst>
          </p:cNvPr>
          <p:cNvSpPr txBox="1"/>
          <p:nvPr/>
        </p:nvSpPr>
        <p:spPr>
          <a:xfrm>
            <a:off x="1542222" y="3806481"/>
            <a:ext cx="1206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population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437441-5A05-2923-43F4-5A51E80DE7C0}"/>
              </a:ext>
            </a:extLst>
          </p:cNvPr>
          <p:cNvSpPr txBox="1"/>
          <p:nvPr/>
        </p:nvSpPr>
        <p:spPr>
          <a:xfrm>
            <a:off x="1592420" y="3585454"/>
            <a:ext cx="113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treatment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B694F3-8559-467B-D154-A3D8369DB841}"/>
              </a:ext>
            </a:extLst>
          </p:cNvPr>
          <p:cNvSpPr txBox="1"/>
          <p:nvPr/>
        </p:nvSpPr>
        <p:spPr>
          <a:xfrm>
            <a:off x="1546326" y="4480901"/>
            <a:ext cx="11986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Lowlander</a:t>
            </a:r>
          </a:p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(Nebraska)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904DC3-7AE3-C06E-2DA7-5088D92ADE03}"/>
              </a:ext>
            </a:extLst>
          </p:cNvPr>
          <p:cNvSpPr txBox="1"/>
          <p:nvPr/>
        </p:nvSpPr>
        <p:spPr>
          <a:xfrm>
            <a:off x="1428152" y="5520317"/>
            <a:ext cx="14350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Highlander</a:t>
            </a:r>
          </a:p>
          <a:p>
            <a:pPr algn="ctr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(Mt Blue Sky)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1EB265-D403-2745-D742-5B45E1B1667E}"/>
              </a:ext>
            </a:extLst>
          </p:cNvPr>
          <p:cNvSpPr txBox="1"/>
          <p:nvPr/>
        </p:nvSpPr>
        <p:spPr>
          <a:xfrm>
            <a:off x="3079041" y="3585454"/>
            <a:ext cx="1136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Normoxia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30C0CD-CFB1-2B60-DB5B-38820595D4FD}"/>
              </a:ext>
            </a:extLst>
          </p:cNvPr>
          <p:cNvSpPr txBox="1"/>
          <p:nvPr/>
        </p:nvSpPr>
        <p:spPr>
          <a:xfrm>
            <a:off x="4465168" y="3585454"/>
            <a:ext cx="11360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Hypoxia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13E45D6-FED7-C114-47C6-AE6FF6137372}"/>
              </a:ext>
            </a:extLst>
          </p:cNvPr>
          <p:cNvCxnSpPr>
            <a:stCxn id="21" idx="3"/>
          </p:cNvCxnSpPr>
          <p:nvPr/>
        </p:nvCxnSpPr>
        <p:spPr>
          <a:xfrm>
            <a:off x="2728437" y="3770120"/>
            <a:ext cx="13472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68CD8C2-68E6-A93E-5931-416DAD801A9B}"/>
              </a:ext>
            </a:extLst>
          </p:cNvPr>
          <p:cNvCxnSpPr>
            <a:cxnSpLocks/>
          </p:cNvCxnSpPr>
          <p:nvPr/>
        </p:nvCxnSpPr>
        <p:spPr>
          <a:xfrm>
            <a:off x="1592420" y="3913400"/>
            <a:ext cx="0" cy="155494"/>
          </a:xfrm>
          <a:prstGeom prst="straightConnector1">
            <a:avLst/>
          </a:prstGeom>
          <a:ln w="19050"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1ED131E2-7654-9F3D-3738-33C00D03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26" y="1841499"/>
            <a:ext cx="5912895" cy="418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1146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072D5-597B-B6D5-B527-5C88B71E5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descr="Figure from “Maladaptive phenotypic plasticity in cardiac msucle growth is suppressed in high-altitude deer mice” showing that high altitude adaptation protects against right ventricular hypertrophy in deer mice.">
            <a:extLst>
              <a:ext uri="{FF2B5EF4-FFF2-40B4-BE49-F238E27FC236}">
                <a16:creationId xmlns:a16="http://schemas.microsoft.com/office/drawing/2014/main" id="{DB94E7A1-3CE8-BC31-274F-4E3AF14362DC}"/>
              </a:ext>
            </a:extLst>
          </p:cNvPr>
          <p:cNvGrpSpPr/>
          <p:nvPr/>
        </p:nvGrpSpPr>
        <p:grpSpPr>
          <a:xfrm>
            <a:off x="4253049" y="1311390"/>
            <a:ext cx="7772400" cy="4781813"/>
            <a:chOff x="4253049" y="1311390"/>
            <a:chExt cx="7772400" cy="4781813"/>
          </a:xfrm>
        </p:grpSpPr>
        <p:pic>
          <p:nvPicPr>
            <p:cNvPr id="3" name="Picture 2" descr="Chart, line chart&#10;&#10;Description automatically generated">
              <a:extLst>
                <a:ext uri="{FF2B5EF4-FFF2-40B4-BE49-F238E27FC236}">
                  <a16:creationId xmlns:a16="http://schemas.microsoft.com/office/drawing/2014/main" id="{8B685849-EFB7-E7B5-FF38-E709ECC0A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3049" y="1311390"/>
              <a:ext cx="7772400" cy="2810933"/>
            </a:xfrm>
            <a:prstGeom prst="rect">
              <a:avLst/>
            </a:prstGeom>
          </p:spPr>
        </p:pic>
        <p:pic>
          <p:nvPicPr>
            <p:cNvPr id="5" name="Picture 4" descr="Text&#10;&#10;Description automatically generated">
              <a:extLst>
                <a:ext uri="{FF2B5EF4-FFF2-40B4-BE49-F238E27FC236}">
                  <a16:creationId xmlns:a16="http://schemas.microsoft.com/office/drawing/2014/main" id="{77B4B1FC-A3BC-35D8-ABBC-06EADA06BA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7529" y="4474029"/>
              <a:ext cx="5815584" cy="1619174"/>
            </a:xfrm>
            <a:prstGeom prst="rect">
              <a:avLst/>
            </a:prstGeom>
          </p:spPr>
        </p:pic>
      </p:grpSp>
      <p:pic>
        <p:nvPicPr>
          <p:cNvPr id="6" name="Picture 5" descr="Photo of a deer mouse">
            <a:extLst>
              <a:ext uri="{FF2B5EF4-FFF2-40B4-BE49-F238E27FC236}">
                <a16:creationId xmlns:a16="http://schemas.microsoft.com/office/drawing/2014/main" id="{F6DE2702-60BD-B51B-E8F0-151AC4427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209" y="1212669"/>
            <a:ext cx="4011168" cy="3008376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D206BAA-EF40-5A97-25B2-BB72B1B58A18}"/>
              </a:ext>
            </a:extLst>
          </p:cNvPr>
          <p:cNvSpPr/>
          <p:nvPr/>
        </p:nvSpPr>
        <p:spPr>
          <a:xfrm>
            <a:off x="10835640" y="548640"/>
            <a:ext cx="502920" cy="411480"/>
          </a:xfrm>
          <a:prstGeom prst="triangle">
            <a:avLst/>
          </a:prstGeom>
          <a:solidFill>
            <a:srgbClr val="D97B4F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9D1E32BD-71A1-0122-B1AE-1667154B5D20}"/>
              </a:ext>
            </a:extLst>
          </p:cNvPr>
          <p:cNvSpPr/>
          <p:nvPr/>
        </p:nvSpPr>
        <p:spPr>
          <a:xfrm>
            <a:off x="11128248" y="320040"/>
            <a:ext cx="640080" cy="640080"/>
          </a:xfrm>
          <a:prstGeom prst="triangle">
            <a:avLst/>
          </a:prstGeom>
          <a:solidFill>
            <a:srgbClr val="1B3A4B">
              <a:alpha val="9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8E5F5000-59C5-ED7B-678F-10C8A2735DDB}"/>
              </a:ext>
            </a:extLst>
          </p:cNvPr>
          <p:cNvSpPr/>
          <p:nvPr/>
        </p:nvSpPr>
        <p:spPr>
          <a:xfrm>
            <a:off x="548640" y="320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we study evolutionary physiology?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10943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1595</Words>
  <Application>Microsoft Macintosh PowerPoint</Application>
  <PresentationFormat>Widescreen</PresentationFormat>
  <Paragraphs>275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Kate Wilsterman</cp:lastModifiedBy>
  <cp:revision>4</cp:revision>
  <dcterms:created xsi:type="dcterms:W3CDTF">2026-08-05T17:45:38Z</dcterms:created>
  <dcterms:modified xsi:type="dcterms:W3CDTF">2026-08-05T20:07:49Z</dcterms:modified>
</cp:coreProperties>
</file>