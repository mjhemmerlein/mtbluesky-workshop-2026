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300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A9933A-8697-1D48-A0F9-EC036BEBE2C0}" v="15" dt="2026-07-27T22:43:01.459"/>
  </p1510:revLst>
</p1510:revInfo>
</file>

<file path=ppt/tableStyles.xml><?xml version="1.0" encoding="utf-8"?>
<a:tblStyleLst xmlns:a="http://schemas.openxmlformats.org/drawingml/2006/main" def="{0958D065-6D8D-4663-B783-893015D2C9B9}">
  <a:tblStyle styleId="{0958D065-6D8D-4663-B783-893015D2C9B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737"/>
  </p:normalViewPr>
  <p:slideViewPr>
    <p:cSldViewPr snapToGrid="0">
      <p:cViewPr varScale="1">
        <p:scale>
          <a:sx n="130" d="100"/>
          <a:sy n="130" d="100"/>
        </p:scale>
        <p:origin x="816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 Hemmerlein" userId="675d0259-84a2-4ee2-a6c1-034493f7a163" providerId="ADAL" clId="{012228E1-9350-51F7-B0E8-CFC048A68215}"/>
    <pc:docChg chg="undo custSel addSld delSld modSld">
      <pc:chgData name="Meg Hemmerlein" userId="675d0259-84a2-4ee2-a6c1-034493f7a163" providerId="ADAL" clId="{012228E1-9350-51F7-B0E8-CFC048A68215}" dt="2026-08-03T20:38:54.626" v="1075" actId="20577"/>
      <pc:docMkLst>
        <pc:docMk/>
      </pc:docMkLst>
      <pc:sldChg chg="modSp mod">
        <pc:chgData name="Meg Hemmerlein" userId="675d0259-84a2-4ee2-a6c1-034493f7a163" providerId="ADAL" clId="{012228E1-9350-51F7-B0E8-CFC048A68215}" dt="2026-07-27T22:23:22.836" v="78" actId="20577"/>
        <pc:sldMkLst>
          <pc:docMk/>
          <pc:sldMk cId="0" sldId="256"/>
        </pc:sldMkLst>
        <pc:spChg chg="mod">
          <ac:chgData name="Meg Hemmerlein" userId="675d0259-84a2-4ee2-a6c1-034493f7a163" providerId="ADAL" clId="{012228E1-9350-51F7-B0E8-CFC048A68215}" dt="2026-07-27T22:23:22.836" v="78" actId="20577"/>
          <ac:spMkLst>
            <pc:docMk/>
            <pc:sldMk cId="0" sldId="256"/>
            <ac:spMk id="55" creationId="{00000000-0000-0000-0000-000000000000}"/>
          </ac:spMkLst>
        </pc:spChg>
      </pc:sldChg>
      <pc:sldChg chg="addSp delSp modSp new mod">
        <pc:chgData name="Meg Hemmerlein" userId="675d0259-84a2-4ee2-a6c1-034493f7a163" providerId="ADAL" clId="{012228E1-9350-51F7-B0E8-CFC048A68215}" dt="2026-07-27T22:41:39.942" v="806" actId="1076"/>
        <pc:sldMkLst>
          <pc:docMk/>
          <pc:sldMk cId="3500867540" sldId="275"/>
        </pc:sldMkLst>
        <pc:spChg chg="mod">
          <ac:chgData name="Meg Hemmerlein" userId="675d0259-84a2-4ee2-a6c1-034493f7a163" providerId="ADAL" clId="{012228E1-9350-51F7-B0E8-CFC048A68215}" dt="2026-07-27T22:25:27.705" v="91" actId="14100"/>
          <ac:spMkLst>
            <pc:docMk/>
            <pc:sldMk cId="3500867540" sldId="275"/>
            <ac:spMk id="2" creationId="{D8E11603-1027-8A5C-BDF5-3B9A7F55BB39}"/>
          </ac:spMkLst>
        </pc:spChg>
        <pc:spChg chg="mod">
          <ac:chgData name="Meg Hemmerlein" userId="675d0259-84a2-4ee2-a6c1-034493f7a163" providerId="ADAL" clId="{012228E1-9350-51F7-B0E8-CFC048A68215}" dt="2026-07-27T22:26:43.331" v="192" actId="20577"/>
          <ac:spMkLst>
            <pc:docMk/>
            <pc:sldMk cId="3500867540" sldId="275"/>
            <ac:spMk id="3" creationId="{8C18EAAF-9BD5-CC34-7F23-1881FD8280FB}"/>
          </ac:spMkLst>
        </pc:spChg>
        <pc:picChg chg="add mod">
          <ac:chgData name="Meg Hemmerlein" userId="675d0259-84a2-4ee2-a6c1-034493f7a163" providerId="ADAL" clId="{012228E1-9350-51F7-B0E8-CFC048A68215}" dt="2026-07-27T22:41:39.942" v="806" actId="1076"/>
          <ac:picMkLst>
            <pc:docMk/>
            <pc:sldMk cId="3500867540" sldId="275"/>
            <ac:picMk id="8" creationId="{83A87D00-D7F2-1EFC-03B9-805E4F9045AB}"/>
          </ac:picMkLst>
        </pc:picChg>
      </pc:sldChg>
      <pc:sldChg chg="addSp modSp add mod">
        <pc:chgData name="Meg Hemmerlein" userId="675d0259-84a2-4ee2-a6c1-034493f7a163" providerId="ADAL" clId="{012228E1-9350-51F7-B0E8-CFC048A68215}" dt="2026-07-27T22:35:41.706" v="411" actId="20577"/>
        <pc:sldMkLst>
          <pc:docMk/>
          <pc:sldMk cId="313750077" sldId="276"/>
        </pc:sldMkLst>
        <pc:spChg chg="mod">
          <ac:chgData name="Meg Hemmerlein" userId="675d0259-84a2-4ee2-a6c1-034493f7a163" providerId="ADAL" clId="{012228E1-9350-51F7-B0E8-CFC048A68215}" dt="2026-07-27T22:26:58.773" v="212" actId="20577"/>
          <ac:spMkLst>
            <pc:docMk/>
            <pc:sldMk cId="313750077" sldId="276"/>
            <ac:spMk id="2" creationId="{2CA0AD72-2631-6B94-D69E-15176898FA07}"/>
          </ac:spMkLst>
        </pc:spChg>
        <pc:spChg chg="mod">
          <ac:chgData name="Meg Hemmerlein" userId="675d0259-84a2-4ee2-a6c1-034493f7a163" providerId="ADAL" clId="{012228E1-9350-51F7-B0E8-CFC048A68215}" dt="2026-07-27T22:35:41.706" v="411" actId="20577"/>
          <ac:spMkLst>
            <pc:docMk/>
            <pc:sldMk cId="313750077" sldId="276"/>
            <ac:spMk id="3" creationId="{978DAFE6-C72E-D582-33BC-2548AF52B736}"/>
          </ac:spMkLst>
        </pc:spChg>
        <pc:picChg chg="add mod">
          <ac:chgData name="Meg Hemmerlein" userId="675d0259-84a2-4ee2-a6c1-034493f7a163" providerId="ADAL" clId="{012228E1-9350-51F7-B0E8-CFC048A68215}" dt="2026-07-27T22:28:12.895" v="240" actId="1076"/>
          <ac:picMkLst>
            <pc:docMk/>
            <pc:sldMk cId="313750077" sldId="276"/>
            <ac:picMk id="4" creationId="{36B9901C-BEC5-FF00-69B1-6F147F4504FE}"/>
          </ac:picMkLst>
        </pc:picChg>
        <pc:picChg chg="add mod">
          <ac:chgData name="Meg Hemmerlein" userId="675d0259-84a2-4ee2-a6c1-034493f7a163" providerId="ADAL" clId="{012228E1-9350-51F7-B0E8-CFC048A68215}" dt="2026-07-27T22:28:12.895" v="240" actId="1076"/>
          <ac:picMkLst>
            <pc:docMk/>
            <pc:sldMk cId="313750077" sldId="276"/>
            <ac:picMk id="5" creationId="{18508DBE-C2E5-B7C6-B923-E40F3FEC4706}"/>
          </ac:picMkLst>
        </pc:picChg>
        <pc:picChg chg="add mod">
          <ac:chgData name="Meg Hemmerlein" userId="675d0259-84a2-4ee2-a6c1-034493f7a163" providerId="ADAL" clId="{012228E1-9350-51F7-B0E8-CFC048A68215}" dt="2026-07-27T22:28:12.895" v="240" actId="1076"/>
          <ac:picMkLst>
            <pc:docMk/>
            <pc:sldMk cId="313750077" sldId="276"/>
            <ac:picMk id="6" creationId="{F4FAD4C2-629D-024F-0DBD-1E8A2B7D0562}"/>
          </ac:picMkLst>
        </pc:picChg>
      </pc:sldChg>
      <pc:sldChg chg="addSp delSp modSp add mod">
        <pc:chgData name="Meg Hemmerlein" userId="675d0259-84a2-4ee2-a6c1-034493f7a163" providerId="ADAL" clId="{012228E1-9350-51F7-B0E8-CFC048A68215}" dt="2026-08-03T20:38:54.626" v="1075" actId="20577"/>
        <pc:sldMkLst>
          <pc:docMk/>
          <pc:sldMk cId="144269538" sldId="277"/>
        </pc:sldMkLst>
        <pc:spChg chg="mod">
          <ac:chgData name="Meg Hemmerlein" userId="675d0259-84a2-4ee2-a6c1-034493f7a163" providerId="ADAL" clId="{012228E1-9350-51F7-B0E8-CFC048A68215}" dt="2026-07-27T22:28:30.931" v="283" actId="20577"/>
          <ac:spMkLst>
            <pc:docMk/>
            <pc:sldMk cId="144269538" sldId="277"/>
            <ac:spMk id="2" creationId="{459FA45D-8C97-4755-75EC-C44834BCB006}"/>
          </ac:spMkLst>
        </pc:spChg>
        <pc:spChg chg="mod">
          <ac:chgData name="Meg Hemmerlein" userId="675d0259-84a2-4ee2-a6c1-034493f7a163" providerId="ADAL" clId="{012228E1-9350-51F7-B0E8-CFC048A68215}" dt="2026-08-03T20:38:54.626" v="1075" actId="20577"/>
          <ac:spMkLst>
            <pc:docMk/>
            <pc:sldMk cId="144269538" sldId="277"/>
            <ac:spMk id="3" creationId="{C9391212-A4EF-E772-2722-2EB0D90E380F}"/>
          </ac:spMkLst>
        </pc:spChg>
        <pc:spChg chg="add mod">
          <ac:chgData name="Meg Hemmerlein" userId="675d0259-84a2-4ee2-a6c1-034493f7a163" providerId="ADAL" clId="{012228E1-9350-51F7-B0E8-CFC048A68215}" dt="2026-07-27T22:30:00.969" v="311" actId="1076"/>
          <ac:spMkLst>
            <pc:docMk/>
            <pc:sldMk cId="144269538" sldId="277"/>
            <ac:spMk id="8" creationId="{D0C066C8-29EF-790D-5870-62A3A6A92C46}"/>
          </ac:spMkLst>
        </pc:spChg>
        <pc:picChg chg="add mod">
          <ac:chgData name="Meg Hemmerlein" userId="675d0259-84a2-4ee2-a6c1-034493f7a163" providerId="ADAL" clId="{012228E1-9350-51F7-B0E8-CFC048A68215}" dt="2026-07-27T22:29:34.427" v="304" actId="1076"/>
          <ac:picMkLst>
            <pc:docMk/>
            <pc:sldMk cId="144269538" sldId="277"/>
            <ac:picMk id="7" creationId="{A2283905-2D74-CFE5-B9F9-F7CFA5600E4D}"/>
          </ac:picMkLst>
        </pc:picChg>
      </pc:sldChg>
      <pc:sldChg chg="addSp delSp modSp add mod">
        <pc:chgData name="Meg Hemmerlein" userId="675d0259-84a2-4ee2-a6c1-034493f7a163" providerId="ADAL" clId="{012228E1-9350-51F7-B0E8-CFC048A68215}" dt="2026-07-27T22:35:56.113" v="415" actId="12"/>
        <pc:sldMkLst>
          <pc:docMk/>
          <pc:sldMk cId="3090539091" sldId="278"/>
        </pc:sldMkLst>
        <pc:spChg chg="mod">
          <ac:chgData name="Meg Hemmerlein" userId="675d0259-84a2-4ee2-a6c1-034493f7a163" providerId="ADAL" clId="{012228E1-9350-51F7-B0E8-CFC048A68215}" dt="2026-07-27T22:31:09.449" v="347" actId="20577"/>
          <ac:spMkLst>
            <pc:docMk/>
            <pc:sldMk cId="3090539091" sldId="278"/>
            <ac:spMk id="2" creationId="{EFD57FB3-F341-ED58-24A9-EFFFB6C5ACD6}"/>
          </ac:spMkLst>
        </pc:spChg>
        <pc:spChg chg="mod">
          <ac:chgData name="Meg Hemmerlein" userId="675d0259-84a2-4ee2-a6c1-034493f7a163" providerId="ADAL" clId="{012228E1-9350-51F7-B0E8-CFC048A68215}" dt="2026-07-27T22:35:56.113" v="415" actId="12"/>
          <ac:spMkLst>
            <pc:docMk/>
            <pc:sldMk cId="3090539091" sldId="278"/>
            <ac:spMk id="3" creationId="{F44F844F-EA94-7D3F-B306-5B16A128B03B}"/>
          </ac:spMkLst>
        </pc:spChg>
        <pc:picChg chg="add mod">
          <ac:chgData name="Meg Hemmerlein" userId="675d0259-84a2-4ee2-a6c1-034493f7a163" providerId="ADAL" clId="{012228E1-9350-51F7-B0E8-CFC048A68215}" dt="2026-07-27T22:31:43.647" v="354" actId="1076"/>
          <ac:picMkLst>
            <pc:docMk/>
            <pc:sldMk cId="3090539091" sldId="278"/>
            <ac:picMk id="4" creationId="{15364C70-08CC-6B59-74EB-EF2409F7EA5B}"/>
          </ac:picMkLst>
        </pc:picChg>
      </pc:sldChg>
      <pc:sldChg chg="addSp delSp modSp add mod">
        <pc:chgData name="Meg Hemmerlein" userId="675d0259-84a2-4ee2-a6c1-034493f7a163" providerId="ADAL" clId="{012228E1-9350-51F7-B0E8-CFC048A68215}" dt="2026-07-27T22:39:49.163" v="798" actId="2711"/>
        <pc:sldMkLst>
          <pc:docMk/>
          <pc:sldMk cId="122035855" sldId="279"/>
        </pc:sldMkLst>
        <pc:spChg chg="mod">
          <ac:chgData name="Meg Hemmerlein" userId="675d0259-84a2-4ee2-a6c1-034493f7a163" providerId="ADAL" clId="{012228E1-9350-51F7-B0E8-CFC048A68215}" dt="2026-07-27T22:34:22.871" v="398" actId="20577"/>
          <ac:spMkLst>
            <pc:docMk/>
            <pc:sldMk cId="122035855" sldId="279"/>
            <ac:spMk id="2" creationId="{D9F80EF0-10D2-6367-1AFE-C516D89CD147}"/>
          </ac:spMkLst>
        </pc:spChg>
        <pc:spChg chg="mod">
          <ac:chgData name="Meg Hemmerlein" userId="675d0259-84a2-4ee2-a6c1-034493f7a163" providerId="ADAL" clId="{012228E1-9350-51F7-B0E8-CFC048A68215}" dt="2026-07-27T22:39:49.163" v="798" actId="2711"/>
          <ac:spMkLst>
            <pc:docMk/>
            <pc:sldMk cId="122035855" sldId="279"/>
            <ac:spMk id="3" creationId="{05473850-4D73-9959-57F4-7DC8D6DCF19B}"/>
          </ac:spMkLst>
        </pc:spChg>
        <pc:picChg chg="add mod modCrop">
          <ac:chgData name="Meg Hemmerlein" userId="675d0259-84a2-4ee2-a6c1-034493f7a163" providerId="ADAL" clId="{012228E1-9350-51F7-B0E8-CFC048A68215}" dt="2026-07-27T22:38:03.725" v="619" actId="1076"/>
          <ac:picMkLst>
            <pc:docMk/>
            <pc:sldMk cId="122035855" sldId="279"/>
            <ac:picMk id="6" creationId="{509D110C-10AF-C25F-E495-CBBC4D01276A}"/>
          </ac:picMkLst>
        </pc:picChg>
      </pc:sldChg>
      <pc:sldChg chg="addSp delSp modSp new mod">
        <pc:chgData name="Meg Hemmerlein" userId="675d0259-84a2-4ee2-a6c1-034493f7a163" providerId="ADAL" clId="{012228E1-9350-51F7-B0E8-CFC048A68215}" dt="2026-07-28T16:19:00.525" v="888" actId="20577"/>
        <pc:sldMkLst>
          <pc:docMk/>
          <pc:sldMk cId="2082792097" sldId="280"/>
        </pc:sldMkLst>
        <pc:spChg chg="mod">
          <ac:chgData name="Meg Hemmerlein" userId="675d0259-84a2-4ee2-a6c1-034493f7a163" providerId="ADAL" clId="{012228E1-9350-51F7-B0E8-CFC048A68215}" dt="2026-07-27T22:38:37.824" v="695" actId="14100"/>
          <ac:spMkLst>
            <pc:docMk/>
            <pc:sldMk cId="2082792097" sldId="280"/>
            <ac:spMk id="2" creationId="{E5839FC0-C54D-105A-686F-E15B91F6F363}"/>
          </ac:spMkLst>
        </pc:spChg>
        <pc:spChg chg="mod">
          <ac:chgData name="Meg Hemmerlein" userId="675d0259-84a2-4ee2-a6c1-034493f7a163" providerId="ADAL" clId="{012228E1-9350-51F7-B0E8-CFC048A68215}" dt="2026-07-28T16:19:00.525" v="888" actId="20577"/>
          <ac:spMkLst>
            <pc:docMk/>
            <pc:sldMk cId="2082792097" sldId="280"/>
            <ac:spMk id="3" creationId="{4F354F71-4379-60F5-A984-B745ACA6C81D}"/>
          </ac:spMkLst>
        </pc:spChg>
      </pc:sldChg>
      <pc:sldChg chg="modSp add del mod">
        <pc:chgData name="Meg Hemmerlein" userId="675d0259-84a2-4ee2-a6c1-034493f7a163" providerId="ADAL" clId="{012228E1-9350-51F7-B0E8-CFC048A68215}" dt="2026-07-27T22:46:01.683" v="843" actId="14100"/>
        <pc:sldMkLst>
          <pc:docMk/>
          <pc:sldMk cId="0" sldId="300"/>
        </pc:sldMkLst>
        <pc:spChg chg="mod">
          <ac:chgData name="Meg Hemmerlein" userId="675d0259-84a2-4ee2-a6c1-034493f7a163" providerId="ADAL" clId="{012228E1-9350-51F7-B0E8-CFC048A68215}" dt="2026-07-27T22:45:55.081" v="841" actId="255"/>
          <ac:spMkLst>
            <pc:docMk/>
            <pc:sldMk cId="0" sldId="300"/>
            <ac:spMk id="391" creationId="{00000000-0000-0000-0000-000000000000}"/>
          </ac:spMkLst>
        </pc:spChg>
        <pc:spChg chg="mod">
          <ac:chgData name="Meg Hemmerlein" userId="675d0259-84a2-4ee2-a6c1-034493f7a163" providerId="ADAL" clId="{012228E1-9350-51F7-B0E8-CFC048A68215}" dt="2026-07-27T22:46:01.683" v="843" actId="14100"/>
          <ac:spMkLst>
            <pc:docMk/>
            <pc:sldMk cId="0" sldId="300"/>
            <ac:spMk id="392" creationId="{00000000-0000-0000-0000-000000000000}"/>
          </ac:spMkLst>
        </pc:spChg>
      </pc:sldChg>
      <pc:sldMasterChg chg="delSldLayout">
        <pc:chgData name="Meg Hemmerlein" userId="675d0259-84a2-4ee2-a6c1-034493f7a163" providerId="ADAL" clId="{012228E1-9350-51F7-B0E8-CFC048A68215}" dt="2026-07-27T22:23:47.541" v="79" actId="2696"/>
        <pc:sldMasterMkLst>
          <pc:docMk/>
          <pc:sldMasterMk cId="0" sldId="2147483659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ptos" panose="020B0004020202020204" pitchFamily="34" charset="0"/>
        <a:ea typeface="Aptos" panose="020B0004020202020204" pitchFamily="34" charset="0"/>
        <a:cs typeface="Arial"/>
        <a:sym typeface="Arial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ce79b87ee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dce79b87ee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0"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0" i="0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0" i="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 b="0" i="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0" i="0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0" i="0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i="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0" i="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0" i="0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0" i="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0" i="0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i="0" dirty="0">
              <a:latin typeface="Aptos" panose="020B0004020202020204" pitchFamily="34" charset="0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 b="0"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 b="0" i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 i="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0" i="0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/>
            </a:lvl1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0" i="0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 b="0" i="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 i="0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0" i="0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0" i="0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0" i="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b="0" i="0"/>
            </a:lvl1pPr>
            <a:lvl2pPr marL="914378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0" i="0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03349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 b="0" i="0">
                <a:solidFill>
                  <a:schemeClr val="dk2"/>
                </a:solidFill>
                <a:latin typeface="Aptos" panose="020B0004020202020204" pitchFamily="34" charset="0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ptos" panose="020B0004020202020204" pitchFamily="34" charset="0"/>
          <a:ea typeface="Aptos" panose="020B0004020202020204" pitchFamily="3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camp.com/cheat-sheet/tidyverse-cheat-sheet-for-beginner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sesync-ci.github.io/advanced-tidyverse-lesson/index.html" TargetMode="External"/><Relationship Id="rId5" Type="http://schemas.openxmlformats.org/officeDocument/2006/relationships/hyperlink" Target="https://github.com/rfordatascience/tidytuesday/tree/main" TargetMode="External"/><Relationship Id="rId4" Type="http://schemas.openxmlformats.org/officeDocument/2006/relationships/hyperlink" Target="https://cran.r-project.org/web/packages/tidyr/vignettes/tidy-data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63" y="391663"/>
            <a:ext cx="3190875" cy="45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2706500" y="1541275"/>
            <a:ext cx="5926800" cy="108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Tidy Data &amp; Plotting</a:t>
            </a:r>
            <a:endParaRPr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716797" y="2571750"/>
            <a:ext cx="3906205" cy="551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n-US" sz="2400" dirty="0">
                <a:solidFill>
                  <a:schemeClr val="tx1"/>
                </a:solidFill>
              </a:rPr>
              <a:t>Mt Blue Sky Workshop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11603-1027-8A5C-BDF5-3B9A7F55B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7079"/>
            <a:ext cx="8520600" cy="730646"/>
          </a:xfrm>
        </p:spPr>
        <p:txBody>
          <a:bodyPr>
            <a:noAutofit/>
          </a:bodyPr>
          <a:lstStyle/>
          <a:p>
            <a:r>
              <a:rPr lang="en-US" sz="4000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8EAAF-9BD5-CC34-7F23-1881FD828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Tidy data</a:t>
            </a: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Manipulating physiology data</a:t>
            </a: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Plotting physiology data</a:t>
            </a:r>
          </a:p>
          <a:p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A87D00-D7F2-1EFC-03B9-805E4F904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145" y="714868"/>
            <a:ext cx="2993269" cy="39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867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3436-5031-FC38-AE05-100298279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0AD72-2631-6B94-D69E-15176898F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7079"/>
            <a:ext cx="8520600" cy="730646"/>
          </a:xfrm>
        </p:spPr>
        <p:txBody>
          <a:bodyPr>
            <a:noAutofit/>
          </a:bodyPr>
          <a:lstStyle/>
          <a:p>
            <a:r>
              <a:rPr lang="en-US" sz="4000" dirty="0"/>
              <a:t>What is tidy data?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DAFE6-C72E-D582-33BC-2548AF52B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435395"/>
            <a:ext cx="4600542" cy="3133480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“a standardized, structured format for organizing datasets to make analysis, visualization, and manipulation easier”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Three main rules:</a:t>
            </a:r>
          </a:p>
          <a:p>
            <a:pPr>
              <a:lnSpc>
                <a:spcPct val="120000"/>
              </a:lnSpc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Each variable is a column</a:t>
            </a:r>
          </a:p>
          <a:p>
            <a:pPr>
              <a:lnSpc>
                <a:spcPct val="120000"/>
              </a:lnSpc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Each observation is a row</a:t>
            </a:r>
          </a:p>
          <a:p>
            <a:pPr>
              <a:lnSpc>
                <a:spcPct val="120000"/>
              </a:lnSpc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Each cell represents a single value</a:t>
            </a:r>
          </a:p>
          <a:p>
            <a:pPr marL="139700" indent="0">
              <a:lnSpc>
                <a:spcPct val="120000"/>
              </a:lnSpc>
              <a:buNone/>
            </a:pP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4" name="Google Shape;73;p15">
            <a:extLst>
              <a:ext uri="{FF2B5EF4-FFF2-40B4-BE49-F238E27FC236}">
                <a16:creationId xmlns:a16="http://schemas.microsoft.com/office/drawing/2014/main" id="{36B9901C-BEC5-FF00-69B1-6F147F4504F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66185"/>
          <a:stretch/>
        </p:blipFill>
        <p:spPr>
          <a:xfrm>
            <a:off x="4731489" y="574626"/>
            <a:ext cx="2146988" cy="1984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74;p15">
            <a:extLst>
              <a:ext uri="{FF2B5EF4-FFF2-40B4-BE49-F238E27FC236}">
                <a16:creationId xmlns:a16="http://schemas.microsoft.com/office/drawing/2014/main" id="{18508DBE-C2E5-B7C6-B923-E40F3FEC470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33136" r="33048"/>
          <a:stretch/>
        </p:blipFill>
        <p:spPr>
          <a:xfrm>
            <a:off x="6878477" y="574625"/>
            <a:ext cx="2146989" cy="198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75;p15">
            <a:extLst>
              <a:ext uri="{FF2B5EF4-FFF2-40B4-BE49-F238E27FC236}">
                <a16:creationId xmlns:a16="http://schemas.microsoft.com/office/drawing/2014/main" id="{F4FAD4C2-629D-024F-0DBD-1E8A2B7D05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66185"/>
          <a:stretch/>
        </p:blipFill>
        <p:spPr>
          <a:xfrm>
            <a:off x="5587843" y="2320293"/>
            <a:ext cx="2581267" cy="2385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750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5E255-E9B1-25A6-F50D-2064A0DB2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FA45D-8C97-4755-75EC-C44834BCB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7079"/>
            <a:ext cx="8520600" cy="730646"/>
          </a:xfrm>
        </p:spPr>
        <p:txBody>
          <a:bodyPr>
            <a:noAutofit/>
          </a:bodyPr>
          <a:lstStyle/>
          <a:p>
            <a:r>
              <a:rPr lang="en-US" sz="4000" dirty="0"/>
              <a:t>Common ‘untidy’ data characteristics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91212-A4EF-E772-2722-2EB0D90E3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5238496" cy="370394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Multiple variables are stored in one column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27, Female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Naming variation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Status column</a:t>
            </a:r>
          </a:p>
          <a:p>
            <a:pPr marL="1257300" lvl="2" indent="-342900"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Preg</a:t>
            </a:r>
          </a:p>
          <a:p>
            <a:pPr marL="1257300" lvl="2" indent="-342900"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pregnant</a:t>
            </a:r>
          </a:p>
          <a:p>
            <a:pPr marL="1257300" lvl="2" indent="-342900"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P</a:t>
            </a:r>
          </a:p>
          <a:p>
            <a:pPr marL="1257300" lvl="2" indent="-342900"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Not </a:t>
            </a:r>
            <a:r>
              <a:rPr lang="en-US" sz="1800" dirty="0" err="1">
                <a:solidFill>
                  <a:schemeClr val="tx1"/>
                </a:solidFill>
              </a:rPr>
              <a:t>preg</a:t>
            </a:r>
            <a:endParaRPr lang="en-US" sz="1800" dirty="0">
              <a:solidFill>
                <a:schemeClr val="tx1"/>
              </a:solidFill>
            </a:endParaRPr>
          </a:p>
          <a:p>
            <a:pPr marL="1257300" lvl="2" indent="-342900"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NA</a:t>
            </a:r>
          </a:p>
        </p:txBody>
      </p:sp>
      <p:pic>
        <p:nvPicPr>
          <p:cNvPr id="7" name="Google Shape;82;p16">
            <a:extLst>
              <a:ext uri="{FF2B5EF4-FFF2-40B4-BE49-F238E27FC236}">
                <a16:creationId xmlns:a16="http://schemas.microsoft.com/office/drawing/2014/main" id="{A2283905-2D74-CFE5-B9F9-F7CFA5600E4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89070" y="1264631"/>
            <a:ext cx="3443230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3;p16">
            <a:extLst>
              <a:ext uri="{FF2B5EF4-FFF2-40B4-BE49-F238E27FC236}">
                <a16:creationId xmlns:a16="http://schemas.microsoft.com/office/drawing/2014/main" id="{D0C066C8-29EF-790D-5870-62A3A6A92C46}"/>
              </a:ext>
            </a:extLst>
          </p:cNvPr>
          <p:cNvSpPr txBox="1"/>
          <p:nvPr/>
        </p:nvSpPr>
        <p:spPr>
          <a:xfrm>
            <a:off x="5525864" y="3947885"/>
            <a:ext cx="3330767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dirty="0">
                <a:latin typeface="Aptos" panose="020B0004020202020204" pitchFamily="34" charset="0"/>
              </a:rPr>
              <a:t>Tidy datasets are all useable; untidy datasets are unusable in their own ways</a:t>
            </a:r>
            <a:endParaRPr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69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600FB-7F0E-CBCC-F7E5-6E9FC53A9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57FB3-F341-ED58-24A9-EFFFB6C5A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7079"/>
            <a:ext cx="8520600" cy="730646"/>
          </a:xfrm>
        </p:spPr>
        <p:txBody>
          <a:bodyPr>
            <a:noAutofit/>
          </a:bodyPr>
          <a:lstStyle/>
          <a:p>
            <a:r>
              <a:rPr lang="en-US" sz="4000" dirty="0"/>
              <a:t>Why do we want a tidy dataset?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F844F-EA94-7D3F-B306-5B16A128B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4908981" cy="34164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Easier to analyze: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Some R commands expect data to be formatted tidily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Some statistics require data to be formatted a certain way</a:t>
            </a:r>
          </a:p>
          <a:p>
            <a:pPr>
              <a:lnSpc>
                <a:spcPct val="100000"/>
              </a:lnSpc>
              <a:buChar char="-"/>
            </a:pPr>
            <a:endParaRPr lang="en-US" sz="20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Easier to plot</a:t>
            </a:r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chemeClr val="tx1"/>
                </a:solidFill>
              </a:rPr>
              <a:t>To produce a desired plot, you must know how to format your data for that plot</a:t>
            </a:r>
          </a:p>
        </p:txBody>
      </p:sp>
      <p:pic>
        <p:nvPicPr>
          <p:cNvPr id="4" name="Google Shape;90;p17">
            <a:extLst>
              <a:ext uri="{FF2B5EF4-FFF2-40B4-BE49-F238E27FC236}">
                <a16:creationId xmlns:a16="http://schemas.microsoft.com/office/drawing/2014/main" id="{15364C70-08CC-6B59-74EB-EF2409F7EA5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20680" y="1054865"/>
            <a:ext cx="3611620" cy="36116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0539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D009F-EDAD-8ECB-A0C1-67538755D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80EF0-10D2-6367-1AFE-C516D89CD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7079"/>
            <a:ext cx="8520600" cy="730646"/>
          </a:xfrm>
        </p:spPr>
        <p:txBody>
          <a:bodyPr>
            <a:noAutofit/>
          </a:bodyPr>
          <a:lstStyle/>
          <a:p>
            <a:r>
              <a:rPr lang="en-US" sz="4000" dirty="0"/>
              <a:t>Having tidy data from the get-go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73850-4D73-9959-57F4-7DC8D6DCF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5536208" cy="365228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Sometimes, data must be collected in non-tidy ways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  <a:latin typeface="Aptos" panose="020B0004020202020204" pitchFamily="34" charset="0"/>
              </a:rPr>
              <a:t>Most people haven’t heard of tidy concepts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  <a:latin typeface="Aptos" panose="020B0004020202020204" pitchFamily="34" charset="0"/>
              </a:rPr>
              <a:t>Data is often organized to help with other things (quick entry, readability)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buNone/>
            </a:pPr>
            <a:r>
              <a:rPr lang="en-US" sz="2000" dirty="0">
                <a:solidFill>
                  <a:schemeClr val="tx1"/>
                </a:solidFill>
              </a:rPr>
              <a:t>Think about what you want to analyze and how to format your data to answer it – before data collection begins!</a:t>
            </a:r>
          </a:p>
          <a:p>
            <a:pPr marL="0" indent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Reformat data to tidy guidelines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6" name="Picture 5" descr="Data collection in quantitative research - FFIND">
            <a:extLst>
              <a:ext uri="{FF2B5EF4-FFF2-40B4-BE49-F238E27FC236}">
                <a16:creationId xmlns:a16="http://schemas.microsoft.com/office/drawing/2014/main" id="{509D110C-10AF-C25F-E495-CBBC4D0127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50" r="32791"/>
          <a:stretch>
            <a:fillRect/>
          </a:stretch>
        </p:blipFill>
        <p:spPr>
          <a:xfrm>
            <a:off x="6386812" y="1204309"/>
            <a:ext cx="2445488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35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39FC0-C54D-105A-686F-E15B91F6F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7079"/>
            <a:ext cx="8520600" cy="730646"/>
          </a:xfrm>
        </p:spPr>
        <p:txBody>
          <a:bodyPr>
            <a:noAutofit/>
          </a:bodyPr>
          <a:lstStyle/>
          <a:p>
            <a:r>
              <a:rPr lang="en-US" sz="4000" dirty="0"/>
              <a:t>Physiology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354F71-4379-60F5-A984-B745ACA6C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397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Data collection</a:t>
            </a:r>
          </a:p>
          <a:p>
            <a:pPr marL="1397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Record data</a:t>
            </a:r>
          </a:p>
          <a:p>
            <a:pPr marL="1397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	Make a google sheet</a:t>
            </a:r>
          </a:p>
          <a:p>
            <a:pPr marL="1397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	Why is our data tidy</a:t>
            </a:r>
          </a:p>
          <a:p>
            <a:pPr marL="1397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Read into R</a:t>
            </a:r>
          </a:p>
          <a:p>
            <a:pPr marL="1397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Plot!</a:t>
            </a:r>
          </a:p>
        </p:txBody>
      </p:sp>
    </p:spTree>
    <p:extLst>
      <p:ext uri="{BB962C8B-B14F-4D97-AF65-F5344CB8AC3E}">
        <p14:creationId xmlns:p14="http://schemas.microsoft.com/office/powerpoint/2010/main" val="2082792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sz="4000" dirty="0"/>
              <a:t>Want to learn more?</a:t>
            </a:r>
            <a:endParaRPr sz="4000" dirty="0"/>
          </a:p>
        </p:txBody>
      </p:sp>
      <p:sp>
        <p:nvSpPr>
          <p:cNvPr id="392" name="Google Shape;392;p57"/>
          <p:cNvSpPr txBox="1">
            <a:spLocks noGrp="1"/>
          </p:cNvSpPr>
          <p:nvPr>
            <p:ph type="body" idx="1"/>
          </p:nvPr>
        </p:nvSpPr>
        <p:spPr>
          <a:xfrm>
            <a:off x="311700" y="1382233"/>
            <a:ext cx="8520600" cy="318664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 marL="0" indent="0">
              <a:buNone/>
            </a:pPr>
            <a:r>
              <a:rPr lang="en" sz="2000" u="sng" dirty="0">
                <a:solidFill>
                  <a:schemeClr val="hlink"/>
                </a:solidFill>
                <a:hlinkClick r:id="rId3"/>
              </a:rPr>
              <a:t>Tidyverse Datacamp Cheat Sheet</a:t>
            </a:r>
            <a:endParaRPr sz="2000" dirty="0"/>
          </a:p>
          <a:p>
            <a:pPr marL="0" indent="0">
              <a:spcBef>
                <a:spcPts val="1200"/>
              </a:spcBef>
              <a:buNone/>
            </a:pPr>
            <a:r>
              <a:rPr lang="en" sz="2000" u="sng" dirty="0">
                <a:solidFill>
                  <a:schemeClr val="hlink"/>
                </a:solidFill>
                <a:hlinkClick r:id="rId4"/>
              </a:rPr>
              <a:t>R Project Tidydata Intro</a:t>
            </a:r>
            <a:endParaRPr sz="2000" dirty="0"/>
          </a:p>
          <a:p>
            <a:pPr marL="0" indent="0">
              <a:spcBef>
                <a:spcPts val="1200"/>
              </a:spcBef>
              <a:buNone/>
            </a:pPr>
            <a:r>
              <a:rPr lang="en" sz="2000" u="sng" dirty="0">
                <a:solidFill>
                  <a:schemeClr val="hlink"/>
                </a:solidFill>
                <a:hlinkClick r:id="rId5"/>
              </a:rPr>
              <a:t>Tidy Tuesday Github</a:t>
            </a:r>
            <a:r>
              <a:rPr lang="en" sz="2000" dirty="0"/>
              <a:t> </a:t>
            </a:r>
            <a:endParaRPr sz="2000" dirty="0"/>
          </a:p>
          <a:p>
            <a:pPr marL="0" indent="0">
              <a:spcBef>
                <a:spcPts val="1200"/>
              </a:spcBef>
              <a:buNone/>
            </a:pPr>
            <a:r>
              <a:rPr lang="en" sz="2000" u="sng" dirty="0">
                <a:solidFill>
                  <a:schemeClr val="hlink"/>
                </a:solidFill>
                <a:hlinkClick r:id="rId6"/>
              </a:rPr>
              <a:t>Advanced Tidyverse by the National Socio-Environmental Synthesis Center</a:t>
            </a:r>
            <a:endParaRPr sz="2000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 u="sng" dirty="0">
                <a:solidFill>
                  <a:schemeClr val="hlink"/>
                </a:solidFill>
                <a:hlinkClick r:id="rId4"/>
              </a:rPr>
              <a:t>Examples of Tidy &amp; Non-tidy Data </a:t>
            </a:r>
            <a:endParaRPr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270</Words>
  <Application>Microsoft Macintosh PowerPoint</Application>
  <PresentationFormat>On-screen Show (16:9)</PresentationFormat>
  <Paragraphs>53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Simple Light</vt:lpstr>
      <vt:lpstr>Tidy Data &amp; Plotting</vt:lpstr>
      <vt:lpstr>Outline</vt:lpstr>
      <vt:lpstr>What is tidy data?</vt:lpstr>
      <vt:lpstr>Common ‘untidy’ data characteristics</vt:lpstr>
      <vt:lpstr>Why do we want a tidy dataset?</vt:lpstr>
      <vt:lpstr>Having tidy data from the get-go</vt:lpstr>
      <vt:lpstr>Physiology Data</vt:lpstr>
      <vt:lpstr>Want to learn more?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Meg Hemmerlein</cp:lastModifiedBy>
  <cp:revision>1</cp:revision>
  <dcterms:modified xsi:type="dcterms:W3CDTF">2026-08-03T20:39:04Z</dcterms:modified>
</cp:coreProperties>
</file>