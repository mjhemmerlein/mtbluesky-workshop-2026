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3" r:id="rId7"/>
    <p:sldId id="265" r:id="rId8"/>
    <p:sldId id="260" r:id="rId9"/>
    <p:sldId id="261" r:id="rId10"/>
    <p:sldId id="262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9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DF5EDE-E1DA-9946-A917-04F12D495E20}" v="2" dt="2026-06-17T20:04:45.9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05"/>
    <p:restoredTop sz="94577"/>
  </p:normalViewPr>
  <p:slideViewPr>
    <p:cSldViewPr snapToGrid="0">
      <p:cViewPr varScale="1">
        <p:scale>
          <a:sx n="97" d="100"/>
          <a:sy n="97" d="100"/>
        </p:scale>
        <p:origin x="11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g Hemmerlein" userId="675d0259-84a2-4ee2-a6c1-034493f7a163" providerId="ADAL" clId="{012228E1-9350-51F7-B0E8-CFC048A68215}"/>
    <pc:docChg chg="undo custSel modSld">
      <pc:chgData name="Meg Hemmerlein" userId="675d0259-84a2-4ee2-a6c1-034493f7a163" providerId="ADAL" clId="{012228E1-9350-51F7-B0E8-CFC048A68215}" dt="2026-06-17T20:08:04.254" v="35" actId="12385"/>
      <pc:docMkLst>
        <pc:docMk/>
      </pc:docMkLst>
      <pc:sldChg chg="addSp modSp mod">
        <pc:chgData name="Meg Hemmerlein" userId="675d0259-84a2-4ee2-a6c1-034493f7a163" providerId="ADAL" clId="{012228E1-9350-51F7-B0E8-CFC048A68215}" dt="2026-06-17T20:05:57.591" v="30" actId="1076"/>
        <pc:sldMkLst>
          <pc:docMk/>
          <pc:sldMk cId="14749553" sldId="256"/>
        </pc:sldMkLst>
        <pc:spChg chg="mod">
          <ac:chgData name="Meg Hemmerlein" userId="675d0259-84a2-4ee2-a6c1-034493f7a163" providerId="ADAL" clId="{012228E1-9350-51F7-B0E8-CFC048A68215}" dt="2026-06-17T20:05:57.591" v="30" actId="1076"/>
          <ac:spMkLst>
            <pc:docMk/>
            <pc:sldMk cId="14749553" sldId="256"/>
            <ac:spMk id="2" creationId="{9978575F-2EB6-2306-B21B-A410E88BF4C1}"/>
          </ac:spMkLst>
        </pc:spChg>
        <pc:spChg chg="mod">
          <ac:chgData name="Meg Hemmerlein" userId="675d0259-84a2-4ee2-a6c1-034493f7a163" providerId="ADAL" clId="{012228E1-9350-51F7-B0E8-CFC048A68215}" dt="2026-06-17T20:05:38.262" v="25" actId="1076"/>
          <ac:spMkLst>
            <pc:docMk/>
            <pc:sldMk cId="14749553" sldId="256"/>
            <ac:spMk id="3" creationId="{C4673F6D-7003-DB96-D71E-CE649D058D1F}"/>
          </ac:spMkLst>
        </pc:spChg>
        <pc:picChg chg="add mod">
          <ac:chgData name="Meg Hemmerlein" userId="675d0259-84a2-4ee2-a6c1-034493f7a163" providerId="ADAL" clId="{012228E1-9350-51F7-B0E8-CFC048A68215}" dt="2026-06-17T20:05:47.703" v="28" actId="1076"/>
          <ac:picMkLst>
            <pc:docMk/>
            <pc:sldMk cId="14749553" sldId="256"/>
            <ac:picMk id="4" creationId="{37645CB6-A292-0A29-FF8F-D73B68745A98}"/>
          </ac:picMkLst>
        </pc:picChg>
      </pc:sldChg>
      <pc:sldChg chg="modSp mod">
        <pc:chgData name="Meg Hemmerlein" userId="675d0259-84a2-4ee2-a6c1-034493f7a163" providerId="ADAL" clId="{012228E1-9350-51F7-B0E8-CFC048A68215}" dt="2026-06-17T20:08:04.254" v="35" actId="12385"/>
        <pc:sldMkLst>
          <pc:docMk/>
          <pc:sldMk cId="319023427" sldId="259"/>
        </pc:sldMkLst>
        <pc:graphicFrameChg chg="modGraphic">
          <ac:chgData name="Meg Hemmerlein" userId="675d0259-84a2-4ee2-a6c1-034493f7a163" providerId="ADAL" clId="{012228E1-9350-51F7-B0E8-CFC048A68215}" dt="2026-06-17T20:08:04.254" v="35" actId="12385"/>
          <ac:graphicFrameMkLst>
            <pc:docMk/>
            <pc:sldMk cId="319023427" sldId="259"/>
            <ac:graphicFrameMk id="5" creationId="{282EB365-A370-A3A1-748E-63657F8D5080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2BD9A-08E8-A5EF-90F2-016C97087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880A2-5892-CE24-3D54-3B2F07D4D0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94B8B-460C-0C5B-62AA-7E0918B3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50D37-D244-9956-24A1-315A79001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4F43CD-66D8-DB0E-9A36-C4E3F20CF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718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6C32D-6DC0-D527-02FE-1F33E891C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D061E-7650-A72E-4610-FE82653C9B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732B8-FBF3-E36F-818E-056BD480D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25B0D5-CD24-8BC1-2284-49A99EA00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B4444-59E0-DF7B-0956-B40740A65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278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99D44-DDCE-B548-7E3B-E11DBA45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22057F-3541-4226-C4DC-CA91AE1704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7BC69C-F42A-0A66-8987-FEF5DCABA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B23C2-29FC-0B26-7D47-C6B3A1C66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F6A0AD-A9A4-5A65-A242-282D4B4DD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25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73991-6371-6A4B-45B4-066A2D590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3A71B-27B9-B454-DB9B-80D0775F4B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457CE3-C47F-E234-2547-CF0BD95F51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22FB2E-70BF-034D-F0D1-0A9FE4027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EB6EF7-5D92-ABB4-D886-142C75863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B0929B-D04B-241A-6B64-B6A1D5040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11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BF362-E4D6-48FB-012E-BF1AC3DDE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F55C3-D28F-495D-68DB-EDF11DF692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C7A5A-72F7-E36F-AEEC-1D50B37290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192D9F-3D37-E626-ABA7-F6940FD40E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2216EB-8E99-8EDD-2CA4-9B52F67B66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5D3883-E572-CA42-05DE-DBBB2613D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7BBC88-FA68-2790-A21D-87BD035F9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6A5984-89A5-CDA5-5707-64CDCE2F7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895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C50AA-1C49-F72F-B212-CC487502B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08C84A-9980-65E1-30D0-200CDE0AE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0686CF-ECA3-37D7-954E-76120F12C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A5063D-8F91-AE91-CFD3-E60E82D0F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86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780BBC-888C-1BC6-BB93-B8ABC8568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469095-07A0-AA8E-72D1-2473AE996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EA713-E221-3BD8-5AC7-06D64C785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48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9F786-2277-73C0-032E-B62BC8BB8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294BE-6B4D-99E0-17D0-21D001AA1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8C1AC5-E553-861C-2EB5-912440CC24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B4418E-62C5-542A-CB1D-473182F34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8F3FC7-EF72-7D09-15C6-441F1AFEF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1E55FC-370D-EB33-BD8B-7A7CBAD99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485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DD2BE-79BD-9866-17DE-17C3B1141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A907D5-0EDB-EEB6-820D-E2177A83B6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91A9D7-151B-A341-6553-3AFBB67B0A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5B363E-33E0-99E7-AFBE-7BA7BA75E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694A29-4E41-0DE4-F53A-65E0A464B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10E95-79C3-7CE4-DE0D-560C655ED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436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36C14-2C5B-D72E-BBDE-77838EA77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5358E8-9A3F-884C-22A8-E5A651AE4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34BA3-9994-2DC4-7617-482E9EFC2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E1DE5D-FF52-5B35-D7CA-CEE7C345A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63914-3CB8-2575-CD70-263CE490B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315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7D6781-D421-8422-0A9C-B8086B9430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2E620-8B21-24B5-7020-10DD8C2879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B813A-CE50-F2F2-2F1C-0CB1FCDB9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55F704-8AF6-7500-9874-3109F0F68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D59021-F852-64F5-A9BF-1746D82F6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621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585AB0-6EE1-3969-C43A-DC1299AA2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012004-E491-6EF5-09A9-2CF3A6770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8882A-A8E0-EEB6-CA74-44736B8B83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735D1D-4579-C940-BD45-BF86EA8C7384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C9D357-6A69-1C5F-B7C9-76661A988E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0850AA-F831-8772-32E9-A0A19A5BA7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CFF4A-D67A-AF47-B3F8-198B8AF26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968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sing R and ggplot2 for data art. – the R Graph Gallery">
            <a:extLst>
              <a:ext uri="{FF2B5EF4-FFF2-40B4-BE49-F238E27FC236}">
                <a16:creationId xmlns:a16="http://schemas.microsoft.com/office/drawing/2014/main" id="{37645CB6-A292-0A29-FF8F-D73B68745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1904" y="733773"/>
            <a:ext cx="8608192" cy="49189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978575F-2EB6-2306-B21B-A410E88BF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71762"/>
            <a:ext cx="9144000" cy="1042987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Introduction to 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673F6D-7003-DB96-D71E-CE649D058D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416995"/>
            <a:ext cx="9144000" cy="471487"/>
          </a:xfrm>
        </p:spPr>
        <p:txBody>
          <a:bodyPr/>
          <a:lstStyle/>
          <a:p>
            <a:r>
              <a:rPr lang="en-US" dirty="0"/>
              <a:t>Mt Blue Sky Workshop 2026</a:t>
            </a:r>
          </a:p>
        </p:txBody>
      </p:sp>
    </p:spTree>
    <p:extLst>
      <p:ext uri="{BB962C8B-B14F-4D97-AF65-F5344CB8AC3E}">
        <p14:creationId xmlns:p14="http://schemas.microsoft.com/office/powerpoint/2010/main" val="14749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42638-7CE6-9AD2-B1E8-382502A1B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E86F7-3044-2580-FC87-27CBAB545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 was developed in the 1990s-2000s at the University of Auckland</a:t>
            </a:r>
          </a:p>
          <a:p>
            <a:r>
              <a:rPr lang="en-US" dirty="0"/>
              <a:t>Open-source and interactive software</a:t>
            </a:r>
          </a:p>
        </p:txBody>
      </p:sp>
      <p:pic>
        <p:nvPicPr>
          <p:cNvPr id="4" name="Picture 3" descr="Broad types of software programs. R is an interpreted language. 'Point-and-click' programs, like Excel and Word, are often easiest for a new user to get started with, but are slower for the computer and are restricted in the functionality they offer. By contrast, compiled languages (like C and Java), assembly languages, and machine code are faster for the computer and allow you to create a wider range of things, but can take longer to code and take longer for a new user to learn to work with.">
            <a:extLst>
              <a:ext uri="{FF2B5EF4-FFF2-40B4-BE49-F238E27FC236}">
                <a16:creationId xmlns:a16="http://schemas.microsoft.com/office/drawing/2014/main" id="{1E2F6ABA-7029-C845-5B76-54846C1A4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839" y="2952766"/>
            <a:ext cx="7772400" cy="322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143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CF81F-AF3C-6A00-E2A2-277B24DFA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uses 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411FFE-3A5D-840B-35C4-7C3F0514F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216965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Statisticians</a:t>
            </a:r>
          </a:p>
          <a:p>
            <a:r>
              <a:rPr lang="en-US" dirty="0"/>
              <a:t>Data scientists</a:t>
            </a:r>
          </a:p>
          <a:p>
            <a:r>
              <a:rPr lang="en-US" dirty="0"/>
              <a:t>Academic researchers</a:t>
            </a:r>
          </a:p>
          <a:p>
            <a:r>
              <a:rPr lang="en-US" dirty="0"/>
              <a:t>Bioinformaticians</a:t>
            </a:r>
          </a:p>
          <a:p>
            <a:r>
              <a:rPr lang="en-US" dirty="0"/>
              <a:t>Pharmaceutical and healthcare companies</a:t>
            </a:r>
          </a:p>
          <a:p>
            <a:r>
              <a:rPr lang="en-US" dirty="0"/>
              <a:t>Journalists and the media</a:t>
            </a:r>
          </a:p>
        </p:txBody>
      </p:sp>
      <p:pic>
        <p:nvPicPr>
          <p:cNvPr id="4" name="Picture 3" descr="R-projects">
            <a:extLst>
              <a:ext uri="{FF2B5EF4-FFF2-40B4-BE49-F238E27FC236}">
                <a16:creationId xmlns:a16="http://schemas.microsoft.com/office/drawing/2014/main" id="{1E436749-2E55-46D4-6D10-721F20F72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347" y="1825625"/>
            <a:ext cx="7705656" cy="385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917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A9166-2FD6-A01F-1EE8-7EB11E26B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vs Python</a:t>
            </a:r>
          </a:p>
        </p:txBody>
      </p:sp>
      <p:pic>
        <p:nvPicPr>
          <p:cNvPr id="4" name="Picture 3" descr="Choosing R vs. Python for Data Science - Matthew Renze">
            <a:extLst>
              <a:ext uri="{FF2B5EF4-FFF2-40B4-BE49-F238E27FC236}">
                <a16:creationId xmlns:a16="http://schemas.microsoft.com/office/drawing/2014/main" id="{BFBE9620-B268-8239-B280-20C624AB3B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0237" y="1672770"/>
            <a:ext cx="3512460" cy="3512460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82EB365-A370-A3A1-748E-63657F8D50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7520329"/>
              </p:ext>
            </p:extLst>
          </p:nvPr>
        </p:nvGraphicFramePr>
        <p:xfrm>
          <a:off x="838199" y="1690688"/>
          <a:ext cx="6264966" cy="442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322">
                  <a:extLst>
                    <a:ext uri="{9D8B030D-6E8A-4147-A177-3AD203B41FA5}">
                      <a16:colId xmlns:a16="http://schemas.microsoft.com/office/drawing/2014/main" val="1207999713"/>
                    </a:ext>
                  </a:extLst>
                </a:gridCol>
                <a:gridCol w="2088322">
                  <a:extLst>
                    <a:ext uri="{9D8B030D-6E8A-4147-A177-3AD203B41FA5}">
                      <a16:colId xmlns:a16="http://schemas.microsoft.com/office/drawing/2014/main" val="1346604537"/>
                    </a:ext>
                  </a:extLst>
                </a:gridCol>
                <a:gridCol w="2088322">
                  <a:extLst>
                    <a:ext uri="{9D8B030D-6E8A-4147-A177-3AD203B41FA5}">
                      <a16:colId xmlns:a16="http://schemas.microsoft.com/office/drawing/2014/main" val="21802841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Criteria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Python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0171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Primary 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Built by statisticians for statistics and data graphics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Built for general-purpose programming and readability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8916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Ease of 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Moderate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Easy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3091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Versatility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Strong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21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Data visualization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Good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72479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Statistics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Good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4168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Community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Large and 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Large and active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8976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Open-source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2257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Cross-platform (mac/PC)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88521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023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0917F-093B-78E2-EF1D-9D50506F7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B5A70-7698-FEF4-2CAA-9F155FC92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vs Python (the engine)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46624A1-C775-84DE-81A2-1B8EFA2B7C55}"/>
              </a:ext>
            </a:extLst>
          </p:cNvPr>
          <p:cNvGraphicFramePr>
            <a:graphicFrameLocks noGrp="1"/>
          </p:cNvGraphicFramePr>
          <p:nvPr/>
        </p:nvGraphicFramePr>
        <p:xfrm>
          <a:off x="838199" y="1690688"/>
          <a:ext cx="6264966" cy="442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322">
                  <a:extLst>
                    <a:ext uri="{9D8B030D-6E8A-4147-A177-3AD203B41FA5}">
                      <a16:colId xmlns:a16="http://schemas.microsoft.com/office/drawing/2014/main" val="1207999713"/>
                    </a:ext>
                  </a:extLst>
                </a:gridCol>
                <a:gridCol w="2088322">
                  <a:extLst>
                    <a:ext uri="{9D8B030D-6E8A-4147-A177-3AD203B41FA5}">
                      <a16:colId xmlns:a16="http://schemas.microsoft.com/office/drawing/2014/main" val="1346604537"/>
                    </a:ext>
                  </a:extLst>
                </a:gridCol>
                <a:gridCol w="2088322">
                  <a:extLst>
                    <a:ext uri="{9D8B030D-6E8A-4147-A177-3AD203B41FA5}">
                      <a16:colId xmlns:a16="http://schemas.microsoft.com/office/drawing/2014/main" val="21802841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Criteria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Python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0171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Primary 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Built by statisticians for statistics and data graphics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Built for general-purpose programming and readability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8916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Ease of learning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Moderate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Easy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3091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Versatility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Strong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621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Data visualization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Good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72479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Statistics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Excellent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Good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84168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Community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Large and active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Large and active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58976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Open-source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2257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Cross-platform (mac/PC)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8852103"/>
                  </a:ext>
                </a:extLst>
              </a:tr>
            </a:tbl>
          </a:graphicData>
        </a:graphic>
      </p:graphicFrame>
      <p:pic>
        <p:nvPicPr>
          <p:cNvPr id="3" name="Picture 2" descr="BEHIND THE CURTAIN PROJECT">
            <a:extLst>
              <a:ext uri="{FF2B5EF4-FFF2-40B4-BE49-F238E27FC236}">
                <a16:creationId xmlns:a16="http://schemas.microsoft.com/office/drawing/2014/main" id="{CDDC5AE1-8B4E-242A-1CB6-D99F47E07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0532" y="983192"/>
            <a:ext cx="4602691" cy="3068460"/>
          </a:xfrm>
          <a:prstGeom prst="rect">
            <a:avLst/>
          </a:prstGeom>
        </p:spPr>
      </p:pic>
      <p:pic>
        <p:nvPicPr>
          <p:cNvPr id="6" name="Picture 5" descr="R and RStudio – Edinburgh Open Research">
            <a:extLst>
              <a:ext uri="{FF2B5EF4-FFF2-40B4-BE49-F238E27FC236}">
                <a16:creationId xmlns:a16="http://schemas.microsoft.com/office/drawing/2014/main" id="{7AF2FFD3-CDF8-3444-B704-F4E7A49448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430" b="30498"/>
          <a:stretch>
            <a:fillRect/>
          </a:stretch>
        </p:blipFill>
        <p:spPr>
          <a:xfrm>
            <a:off x="7613649" y="2921002"/>
            <a:ext cx="1556093" cy="685800"/>
          </a:xfrm>
          <a:prstGeom prst="rect">
            <a:avLst/>
          </a:prstGeom>
        </p:spPr>
      </p:pic>
      <p:pic>
        <p:nvPicPr>
          <p:cNvPr id="7" name="Picture 6" descr="Visual Studio Code (VS Code): Easier Vulnerability &amp; Code Smell Detection |  by A Developer 😀 | Medium">
            <a:extLst>
              <a:ext uri="{FF2B5EF4-FFF2-40B4-BE49-F238E27FC236}">
                <a16:creationId xmlns:a16="http://schemas.microsoft.com/office/drawing/2014/main" id="{827AA57D-EEB4-A5A9-7123-2CD08C10FB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2" y="2921002"/>
            <a:ext cx="1556094" cy="73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793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6C173-C37C-EDBA-635D-78781A507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interface RStudio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1AD4F1-FC32-3821-4AE5-622F39B9DB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5066" y="1825625"/>
            <a:ext cx="2988733" cy="4541308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Source: </a:t>
            </a:r>
            <a:r>
              <a:rPr lang="en-US" dirty="0"/>
              <a:t>text editor (write scripts here)</a:t>
            </a:r>
          </a:p>
          <a:p>
            <a:r>
              <a:rPr lang="en-US" b="1" dirty="0"/>
              <a:t>Console: </a:t>
            </a:r>
            <a:r>
              <a:rPr lang="en-US" dirty="0"/>
              <a:t>Interactive text editor &amp; shows error messages</a:t>
            </a:r>
          </a:p>
          <a:p>
            <a:r>
              <a:rPr lang="en-US" b="1" dirty="0"/>
              <a:t>Environments: </a:t>
            </a:r>
            <a:r>
              <a:rPr lang="en-US" dirty="0"/>
              <a:t>will populate with R objects</a:t>
            </a:r>
          </a:p>
          <a:p>
            <a:r>
              <a:rPr lang="en-US" b="1" dirty="0"/>
              <a:t>Output:</a:t>
            </a:r>
          </a:p>
          <a:p>
            <a:pPr lvl="1"/>
            <a:r>
              <a:rPr lang="en-US" dirty="0"/>
              <a:t>Files tab</a:t>
            </a:r>
          </a:p>
          <a:p>
            <a:pPr lvl="1"/>
            <a:r>
              <a:rPr lang="en-US" dirty="0"/>
              <a:t>Plots tab</a:t>
            </a:r>
          </a:p>
          <a:p>
            <a:pPr lvl="1"/>
            <a:r>
              <a:rPr lang="en-US" dirty="0"/>
              <a:t>Packages tab</a:t>
            </a:r>
          </a:p>
          <a:p>
            <a:pPr lvl="1"/>
            <a:r>
              <a:rPr lang="en-US" dirty="0"/>
              <a:t>Help tab</a:t>
            </a:r>
          </a:p>
        </p:txBody>
      </p:sp>
      <p:pic>
        <p:nvPicPr>
          <p:cNvPr id="4" name="Picture 3" descr="Get Started – RStudio User Guide">
            <a:extLst>
              <a:ext uri="{FF2B5EF4-FFF2-40B4-BE49-F238E27FC236}">
                <a16:creationId xmlns:a16="http://schemas.microsoft.com/office/drawing/2014/main" id="{14BBF79D-F8D7-4E11-1574-E7831271F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416" y="1522044"/>
            <a:ext cx="6848983" cy="514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84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E0CD7-90F8-8A2E-7FED-3CF4EA8BD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F34B2-3D01-548F-AB92-4FD8FEB79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interface RStudio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8249DC-1FC7-4618-F615-62AEA778B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5066" y="1825625"/>
            <a:ext cx="2988733" cy="4541308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Source: </a:t>
            </a:r>
            <a:r>
              <a:rPr lang="en-US" dirty="0"/>
              <a:t>text editor (write scripts here)</a:t>
            </a:r>
          </a:p>
          <a:p>
            <a:r>
              <a:rPr lang="en-US" b="1" dirty="0"/>
              <a:t>Console: </a:t>
            </a:r>
            <a:r>
              <a:rPr lang="en-US" dirty="0"/>
              <a:t>Interactive text editor &amp; shows error messages</a:t>
            </a:r>
          </a:p>
          <a:p>
            <a:r>
              <a:rPr lang="en-US" b="1" dirty="0"/>
              <a:t>Environments: </a:t>
            </a:r>
            <a:r>
              <a:rPr lang="en-US" dirty="0"/>
              <a:t>will populate with R objects</a:t>
            </a:r>
          </a:p>
          <a:p>
            <a:r>
              <a:rPr lang="en-US" b="1" dirty="0"/>
              <a:t>Output:</a:t>
            </a:r>
          </a:p>
          <a:p>
            <a:pPr lvl="1"/>
            <a:r>
              <a:rPr lang="en-US" dirty="0"/>
              <a:t>Files tab</a:t>
            </a:r>
          </a:p>
          <a:p>
            <a:pPr lvl="1"/>
            <a:r>
              <a:rPr lang="en-US" dirty="0"/>
              <a:t>Plots tab</a:t>
            </a:r>
          </a:p>
          <a:p>
            <a:pPr lvl="1"/>
            <a:r>
              <a:rPr lang="en-US" dirty="0"/>
              <a:t>Packages tab</a:t>
            </a:r>
          </a:p>
          <a:p>
            <a:pPr lvl="1"/>
            <a:r>
              <a:rPr lang="en-US" dirty="0"/>
              <a:t>Help tab</a:t>
            </a:r>
          </a:p>
        </p:txBody>
      </p:sp>
      <p:pic>
        <p:nvPicPr>
          <p:cNvPr id="4" name="Picture 3" descr="Get Started – RStudio User Guide">
            <a:extLst>
              <a:ext uri="{FF2B5EF4-FFF2-40B4-BE49-F238E27FC236}">
                <a16:creationId xmlns:a16="http://schemas.microsoft.com/office/drawing/2014/main" id="{3342AC30-52DD-C6AD-BCC6-103D193FC8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5063" b="32866"/>
          <a:stretch>
            <a:fillRect/>
          </a:stretch>
        </p:blipFill>
        <p:spPr>
          <a:xfrm>
            <a:off x="936417" y="1522044"/>
            <a:ext cx="3762584" cy="3456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866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693B8-6D08-4052-B526-9AADCC095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“package” system of R</a:t>
            </a:r>
          </a:p>
        </p:txBody>
      </p:sp>
      <p:pic>
        <p:nvPicPr>
          <p:cNvPr id="5" name="Picture 4" descr="Simply White Wedding Cake – Cutter &amp; Squidge">
            <a:extLst>
              <a:ext uri="{FF2B5EF4-FFF2-40B4-BE49-F238E27FC236}">
                <a16:creationId xmlns:a16="http://schemas.microsoft.com/office/drawing/2014/main" id="{08C473EA-881F-0484-E1A0-F51C4DF97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774" y="1903751"/>
            <a:ext cx="4129791" cy="4129791"/>
          </a:xfrm>
          <a:prstGeom prst="rect">
            <a:avLst/>
          </a:prstGeom>
        </p:spPr>
      </p:pic>
      <p:pic>
        <p:nvPicPr>
          <p:cNvPr id="7" name="Picture 6" descr="Custom Bow — Sweet Heather Anne Cake Studio">
            <a:extLst>
              <a:ext uri="{FF2B5EF4-FFF2-40B4-BE49-F238E27FC236}">
                <a16:creationId xmlns:a16="http://schemas.microsoft.com/office/drawing/2014/main" id="{07D679A7-58C7-8BBF-3C3F-4867B7A84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514" y="1903751"/>
            <a:ext cx="4129792" cy="4129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745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72645-DF87-3F2C-1F38-9DFF9DEF8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7C4A7-93D5-135C-0893-316D8A416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“package” system of R</a:t>
            </a:r>
          </a:p>
        </p:txBody>
      </p:sp>
      <p:pic>
        <p:nvPicPr>
          <p:cNvPr id="5" name="Picture 4" descr="Simply White Wedding Cake – Cutter &amp; Squidge">
            <a:extLst>
              <a:ext uri="{FF2B5EF4-FFF2-40B4-BE49-F238E27FC236}">
                <a16:creationId xmlns:a16="http://schemas.microsoft.com/office/drawing/2014/main" id="{99E0CF06-09E7-2BE1-F664-C2B3FB18B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774" y="1903751"/>
            <a:ext cx="4129791" cy="4129791"/>
          </a:xfrm>
          <a:prstGeom prst="rect">
            <a:avLst/>
          </a:prstGeom>
        </p:spPr>
      </p:pic>
      <p:pic>
        <p:nvPicPr>
          <p:cNvPr id="7" name="Picture 6" descr="Custom Bow — Sweet Heather Anne Cake Studio">
            <a:extLst>
              <a:ext uri="{FF2B5EF4-FFF2-40B4-BE49-F238E27FC236}">
                <a16:creationId xmlns:a16="http://schemas.microsoft.com/office/drawing/2014/main" id="{A5393EDA-7303-F5C3-C016-B9D6D417A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514" y="1903751"/>
            <a:ext cx="4129792" cy="4129792"/>
          </a:xfrm>
          <a:prstGeom prst="rect">
            <a:avLst/>
          </a:prstGeom>
        </p:spPr>
      </p:pic>
      <p:pic>
        <p:nvPicPr>
          <p:cNvPr id="8" name="Picture 7" descr="2.1 Installing Base-R and RStudio | YaRrr! The Pirate's Guide to R">
            <a:extLst>
              <a:ext uri="{FF2B5EF4-FFF2-40B4-BE49-F238E27FC236}">
                <a16:creationId xmlns:a16="http://schemas.microsoft.com/office/drawing/2014/main" id="{952D59AF-1C3F-2856-EAA0-A04DA8446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463" y="2068643"/>
            <a:ext cx="1769077" cy="1547942"/>
          </a:xfrm>
          <a:prstGeom prst="rect">
            <a:avLst/>
          </a:prstGeom>
        </p:spPr>
      </p:pic>
      <p:pic>
        <p:nvPicPr>
          <p:cNvPr id="3" name="Picture 2" descr="Favorite R Packages | Roel Verbelen">
            <a:extLst>
              <a:ext uri="{FF2B5EF4-FFF2-40B4-BE49-F238E27FC236}">
                <a16:creationId xmlns:a16="http://schemas.microsoft.com/office/drawing/2014/main" id="{10557AAC-6E50-05F0-7D65-5038DE309C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308" y="668142"/>
            <a:ext cx="4921770" cy="4964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012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E8B07-C813-9DCD-D25B-32621E2D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load packages</a:t>
            </a:r>
          </a:p>
        </p:txBody>
      </p:sp>
      <p:pic>
        <p:nvPicPr>
          <p:cNvPr id="4" name="Picture 3" descr="Install a package (with 'install.packages') to get it onto your computer. Load it (with 'library') to get it into your R session.">
            <a:extLst>
              <a:ext uri="{FF2B5EF4-FFF2-40B4-BE49-F238E27FC236}">
                <a16:creationId xmlns:a16="http://schemas.microsoft.com/office/drawing/2014/main" id="{C7E33F92-2D2D-1A3E-A9FF-3DD9FEE2F4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02" y="2055042"/>
            <a:ext cx="5423718" cy="4006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DD2A34B-AB46-71B2-F811-A2C8FC7B58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7294" y="1407881"/>
            <a:ext cx="5691573" cy="2909593"/>
          </a:xfrm>
          <a:prstGeom prst="rect">
            <a:avLst/>
          </a:prstGeom>
        </p:spPr>
      </p:pic>
      <p:sp>
        <p:nvSpPr>
          <p:cNvPr id="7" name="Oval Callout 6">
            <a:extLst>
              <a:ext uri="{FF2B5EF4-FFF2-40B4-BE49-F238E27FC236}">
                <a16:creationId xmlns:a16="http://schemas.microsoft.com/office/drawing/2014/main" id="{9FD69427-7880-C7B9-DDBC-4B76CE16C475}"/>
              </a:ext>
            </a:extLst>
          </p:cNvPr>
          <p:cNvSpPr/>
          <p:nvPr/>
        </p:nvSpPr>
        <p:spPr>
          <a:xfrm>
            <a:off x="7277493" y="4920792"/>
            <a:ext cx="2154374" cy="1140659"/>
          </a:xfrm>
          <a:prstGeom prst="wedgeEllipseCallout">
            <a:avLst>
              <a:gd name="adj1" fmla="val 18180"/>
              <a:gd name="adj2" fmla="val -94117"/>
            </a:avLst>
          </a:prstGeom>
          <a:ln>
            <a:solidFill>
              <a:srgbClr val="0494A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494A2"/>
                </a:solidFill>
              </a:rPr>
              <a:t>23,908 packages in CRAN!</a:t>
            </a:r>
          </a:p>
        </p:txBody>
      </p:sp>
    </p:spTree>
    <p:extLst>
      <p:ext uri="{BB962C8B-B14F-4D97-AF65-F5344CB8AC3E}">
        <p14:creationId xmlns:p14="http://schemas.microsoft.com/office/powerpoint/2010/main" val="1029108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937F5-796B-B23E-29C2-A70BC7983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BA945-CF24-DD75-AA6C-78681B1FB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load packages</a:t>
            </a:r>
          </a:p>
        </p:txBody>
      </p:sp>
      <p:pic>
        <p:nvPicPr>
          <p:cNvPr id="4" name="Picture 3" descr="Install a package (with 'install.packages') to get it onto your computer. Load it (with 'library') to get it into your R session.">
            <a:extLst>
              <a:ext uri="{FF2B5EF4-FFF2-40B4-BE49-F238E27FC236}">
                <a16:creationId xmlns:a16="http://schemas.microsoft.com/office/drawing/2014/main" id="{FC3C46FF-5B3D-ED2D-C4D7-899BEB6EA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02" y="2055042"/>
            <a:ext cx="5423718" cy="4006409"/>
          </a:xfrm>
          <a:prstGeom prst="rect">
            <a:avLst/>
          </a:prstGeom>
        </p:spPr>
      </p:pic>
      <p:pic>
        <p:nvPicPr>
          <p:cNvPr id="3" name="Picture 2" descr="2.3 Packages | YaRrr! The Pirate's Guide to R">
            <a:extLst>
              <a:ext uri="{FF2B5EF4-FFF2-40B4-BE49-F238E27FC236}">
                <a16:creationId xmlns:a16="http://schemas.microsoft.com/office/drawing/2014/main" id="{0200ADF0-F7B7-81B6-081F-7C47651F13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083" y="1137364"/>
            <a:ext cx="4531783" cy="4924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6397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BB958-196B-3091-C8D5-5B2F6FE2C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Get Started in R!</a:t>
            </a:r>
          </a:p>
        </p:txBody>
      </p:sp>
      <p:pic>
        <p:nvPicPr>
          <p:cNvPr id="9" name="Picture 8" descr="How to Print &quot;Hello World&quot; in Top 12 Most Popular Programming Languages |  Towards Data Science">
            <a:extLst>
              <a:ext uri="{FF2B5EF4-FFF2-40B4-BE49-F238E27FC236}">
                <a16:creationId xmlns:a16="http://schemas.microsoft.com/office/drawing/2014/main" id="{FC49FC41-10EC-1B6A-94D1-342BF1128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00" y="2052686"/>
            <a:ext cx="65024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0946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270</Words>
  <Application>Microsoft Macintosh PowerPoint</Application>
  <PresentationFormat>Widescreen</PresentationFormat>
  <Paragraphs>92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Introduction to R</vt:lpstr>
      <vt:lpstr>What is R?</vt:lpstr>
      <vt:lpstr>Who uses R?</vt:lpstr>
      <vt:lpstr>R vs Python</vt:lpstr>
      <vt:lpstr>R vs Python (the engine)</vt:lpstr>
      <vt:lpstr>How to interface RStudio</vt:lpstr>
      <vt:lpstr>How to interface RStudio</vt:lpstr>
      <vt:lpstr>The “package” system of R</vt:lpstr>
      <vt:lpstr>The “package” system of R</vt:lpstr>
      <vt:lpstr>How to load packages</vt:lpstr>
      <vt:lpstr>How to load packages</vt:lpstr>
      <vt:lpstr>Let’s Get Started in R!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Meg Hemmerlein</dc:creator>
  <cp:lastModifiedBy>Meg Hemmerlein</cp:lastModifiedBy>
  <cp:revision>1</cp:revision>
  <dcterms:created xsi:type="dcterms:W3CDTF">2026-06-17T15:40:57Z</dcterms:created>
  <dcterms:modified xsi:type="dcterms:W3CDTF">2026-06-17T20:08:07Z</dcterms:modified>
</cp:coreProperties>
</file>