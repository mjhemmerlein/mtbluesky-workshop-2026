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7" r:id="rId4"/>
    <p:sldId id="258" r:id="rId5"/>
    <p:sldId id="259" r:id="rId6"/>
    <p:sldId id="264" r:id="rId7"/>
    <p:sldId id="263" r:id="rId8"/>
    <p:sldId id="265" r:id="rId9"/>
    <p:sldId id="269" r:id="rId10"/>
    <p:sldId id="270" r:id="rId11"/>
    <p:sldId id="271" r:id="rId12"/>
    <p:sldId id="272" r:id="rId13"/>
    <p:sldId id="273" r:id="rId14"/>
    <p:sldId id="260" r:id="rId15"/>
    <p:sldId id="261" r:id="rId16"/>
    <p:sldId id="262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2E095E-F6DD-4E4E-8B88-91B58CF40A70}" v="3" dt="2026-07-27T22:23:54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/>
    <p:restoredTop sz="94577"/>
  </p:normalViewPr>
  <p:slideViewPr>
    <p:cSldViewPr snapToGrid="0">
      <p:cViewPr varScale="1">
        <p:scale>
          <a:sx n="97" d="100"/>
          <a:sy n="97" d="100"/>
        </p:scale>
        <p:origin x="9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Hemmerlein" userId="675d0259-84a2-4ee2-a6c1-034493f7a163" providerId="ADAL" clId="{012228E1-9350-51F7-B0E8-CFC048A68215}"/>
    <pc:docChg chg="undo custSel addSld delSld modSld">
      <pc:chgData name="Meg Hemmerlein" userId="675d0259-84a2-4ee2-a6c1-034493f7a163" providerId="ADAL" clId="{012228E1-9350-51F7-B0E8-CFC048A68215}" dt="2026-07-27T22:43:07.272" v="248" actId="2696"/>
      <pc:docMkLst>
        <pc:docMk/>
      </pc:docMkLst>
      <pc:sldChg chg="delSp modSp add del mod">
        <pc:chgData name="Meg Hemmerlein" userId="675d0259-84a2-4ee2-a6c1-034493f7a163" providerId="ADAL" clId="{012228E1-9350-51F7-B0E8-CFC048A68215}" dt="2026-07-27T22:08:59.204" v="42" actId="2696"/>
        <pc:sldMkLst>
          <pc:docMk/>
          <pc:sldMk cId="4243849896" sldId="268"/>
        </pc:sldMkLst>
        <pc:picChg chg="del">
          <ac:chgData name="Meg Hemmerlein" userId="675d0259-84a2-4ee2-a6c1-034493f7a163" providerId="ADAL" clId="{012228E1-9350-51F7-B0E8-CFC048A68215}" dt="2026-07-27T22:08:38.955" v="37" actId="478"/>
          <ac:picMkLst>
            <pc:docMk/>
            <pc:sldMk cId="4243849896" sldId="268"/>
            <ac:picMk id="5" creationId="{35E6A8FF-F588-3FDF-B6F9-741B80291DE1}"/>
          </ac:picMkLst>
        </pc:picChg>
        <pc:picChg chg="del mod">
          <ac:chgData name="Meg Hemmerlein" userId="675d0259-84a2-4ee2-a6c1-034493f7a163" providerId="ADAL" clId="{012228E1-9350-51F7-B0E8-CFC048A68215}" dt="2026-07-27T22:08:39.416" v="39" actId="478"/>
          <ac:picMkLst>
            <pc:docMk/>
            <pc:sldMk cId="4243849896" sldId="268"/>
            <ac:picMk id="7" creationId="{7D0907B8-6B3A-6C4C-453E-B6A0AFD3C30E}"/>
          </ac:picMkLst>
        </pc:picChg>
      </pc:sldChg>
      <pc:sldChg chg="add">
        <pc:chgData name="Meg Hemmerlein" userId="675d0259-84a2-4ee2-a6c1-034493f7a163" providerId="ADAL" clId="{012228E1-9350-51F7-B0E8-CFC048A68215}" dt="2026-07-27T22:08:52.436" v="40"/>
        <pc:sldMkLst>
          <pc:docMk/>
          <pc:sldMk cId="0" sldId="269"/>
        </pc:sldMkLst>
      </pc:sldChg>
      <pc:sldChg chg="add">
        <pc:chgData name="Meg Hemmerlein" userId="675d0259-84a2-4ee2-a6c1-034493f7a163" providerId="ADAL" clId="{012228E1-9350-51F7-B0E8-CFC048A68215}" dt="2026-07-27T22:08:52.436" v="40"/>
        <pc:sldMkLst>
          <pc:docMk/>
          <pc:sldMk cId="0" sldId="270"/>
        </pc:sldMkLst>
      </pc:sldChg>
      <pc:sldChg chg="modSp add mod">
        <pc:chgData name="Meg Hemmerlein" userId="675d0259-84a2-4ee2-a6c1-034493f7a163" providerId="ADAL" clId="{012228E1-9350-51F7-B0E8-CFC048A68215}" dt="2026-07-27T22:21:00.370" v="228" actId="207"/>
        <pc:sldMkLst>
          <pc:docMk/>
          <pc:sldMk cId="0" sldId="271"/>
        </pc:sldMkLst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22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23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24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25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26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27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28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29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30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21:00.370" v="228" actId="207"/>
          <ac:spMkLst>
            <pc:docMk/>
            <pc:sldMk cId="0" sldId="271"/>
            <ac:spMk id="131" creationId="{00000000-0000-0000-0000-000000000000}"/>
          </ac:spMkLst>
        </pc:spChg>
      </pc:sldChg>
      <pc:sldChg chg="modSp add mod">
        <pc:chgData name="Meg Hemmerlein" userId="675d0259-84a2-4ee2-a6c1-034493f7a163" providerId="ADAL" clId="{012228E1-9350-51F7-B0E8-CFC048A68215}" dt="2026-07-27T22:09:26.613" v="43" actId="14100"/>
        <pc:sldMkLst>
          <pc:docMk/>
          <pc:sldMk cId="0" sldId="272"/>
        </pc:sldMkLst>
        <pc:spChg chg="mod">
          <ac:chgData name="Meg Hemmerlein" userId="675d0259-84a2-4ee2-a6c1-034493f7a163" providerId="ADAL" clId="{012228E1-9350-51F7-B0E8-CFC048A68215}" dt="2026-07-27T22:09:26.613" v="43" actId="14100"/>
          <ac:spMkLst>
            <pc:docMk/>
            <pc:sldMk cId="0" sldId="272"/>
            <ac:spMk id="136" creationId="{00000000-0000-0000-0000-000000000000}"/>
          </ac:spMkLst>
        </pc:spChg>
      </pc:sldChg>
      <pc:sldChg chg="modSp add mod">
        <pc:chgData name="Meg Hemmerlein" userId="675d0259-84a2-4ee2-a6c1-034493f7a163" providerId="ADAL" clId="{012228E1-9350-51F7-B0E8-CFC048A68215}" dt="2026-07-27T22:09:38.930" v="48" actId="27636"/>
        <pc:sldMkLst>
          <pc:docMk/>
          <pc:sldMk cId="0" sldId="273"/>
        </pc:sldMkLst>
        <pc:spChg chg="mod">
          <ac:chgData name="Meg Hemmerlein" userId="675d0259-84a2-4ee2-a6c1-034493f7a163" providerId="ADAL" clId="{012228E1-9350-51F7-B0E8-CFC048A68215}" dt="2026-07-27T22:09:32.116" v="44" actId="14100"/>
          <ac:spMkLst>
            <pc:docMk/>
            <pc:sldMk cId="0" sldId="273"/>
            <ac:spMk id="153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09:38.930" v="48" actId="27636"/>
          <ac:spMkLst>
            <pc:docMk/>
            <pc:sldMk cId="0" sldId="273"/>
            <ac:spMk id="155" creationId="{00000000-0000-0000-0000-000000000000}"/>
          </ac:spMkLst>
        </pc:spChg>
      </pc:sldChg>
      <pc:sldChg chg="addSp delSp modSp new mod">
        <pc:chgData name="Meg Hemmerlein" userId="675d0259-84a2-4ee2-a6c1-034493f7a163" providerId="ADAL" clId="{012228E1-9350-51F7-B0E8-CFC048A68215}" dt="2026-07-27T22:20:26.632" v="227" actId="1076"/>
        <pc:sldMkLst>
          <pc:docMk/>
          <pc:sldMk cId="1574207869" sldId="274"/>
        </pc:sldMkLst>
        <pc:spChg chg="mod">
          <ac:chgData name="Meg Hemmerlein" userId="675d0259-84a2-4ee2-a6c1-034493f7a163" providerId="ADAL" clId="{012228E1-9350-51F7-B0E8-CFC048A68215}" dt="2026-07-27T22:10:41.930" v="56" actId="20577"/>
          <ac:spMkLst>
            <pc:docMk/>
            <pc:sldMk cId="1574207869" sldId="274"/>
            <ac:spMk id="2" creationId="{0E33E4A0-CF0E-AD10-7DCC-B2024937C886}"/>
          </ac:spMkLst>
        </pc:spChg>
        <pc:spChg chg="mod">
          <ac:chgData name="Meg Hemmerlein" userId="675d0259-84a2-4ee2-a6c1-034493f7a163" providerId="ADAL" clId="{012228E1-9350-51F7-B0E8-CFC048A68215}" dt="2026-07-27T22:12:57.596" v="199" actId="20577"/>
          <ac:spMkLst>
            <pc:docMk/>
            <pc:sldMk cId="1574207869" sldId="274"/>
            <ac:spMk id="3" creationId="{197A7664-767D-91FB-3E83-355B4D5FD6BB}"/>
          </ac:spMkLst>
        </pc:spChg>
        <pc:picChg chg="add del mod modCrop">
          <ac:chgData name="Meg Hemmerlein" userId="675d0259-84a2-4ee2-a6c1-034493f7a163" providerId="ADAL" clId="{012228E1-9350-51F7-B0E8-CFC048A68215}" dt="2026-07-27T22:19:26.524" v="216" actId="478"/>
          <ac:picMkLst>
            <pc:docMk/>
            <pc:sldMk cId="1574207869" sldId="274"/>
            <ac:picMk id="5" creationId="{6C240DAE-D4FF-AD5C-AE4D-2ECE745C5E4B}"/>
          </ac:picMkLst>
        </pc:picChg>
        <pc:picChg chg="add mod modCrop">
          <ac:chgData name="Meg Hemmerlein" userId="675d0259-84a2-4ee2-a6c1-034493f7a163" providerId="ADAL" clId="{012228E1-9350-51F7-B0E8-CFC048A68215}" dt="2026-07-27T22:20:26.632" v="227" actId="1076"/>
          <ac:picMkLst>
            <pc:docMk/>
            <pc:sldMk cId="1574207869" sldId="274"/>
            <ac:picMk id="6" creationId="{0F0EED8B-C2CE-476B-D378-9235E92CF0D5}"/>
          </ac:picMkLst>
        </pc:picChg>
      </pc:sldChg>
      <pc:sldChg chg="add del">
        <pc:chgData name="Meg Hemmerlein" userId="675d0259-84a2-4ee2-a6c1-034493f7a163" providerId="ADAL" clId="{012228E1-9350-51F7-B0E8-CFC048A68215}" dt="2026-07-27T22:43:07.245" v="243" actId="2696"/>
        <pc:sldMkLst>
          <pc:docMk/>
          <pc:sldMk cId="0" sldId="275"/>
        </pc:sldMkLst>
      </pc:sldChg>
      <pc:sldChg chg="add del">
        <pc:chgData name="Meg Hemmerlein" userId="675d0259-84a2-4ee2-a6c1-034493f7a163" providerId="ADAL" clId="{012228E1-9350-51F7-B0E8-CFC048A68215}" dt="2026-07-27T22:43:07.254" v="245" actId="2696"/>
        <pc:sldMkLst>
          <pc:docMk/>
          <pc:sldMk cId="0" sldId="276"/>
        </pc:sldMkLst>
      </pc:sldChg>
      <pc:sldChg chg="modSp add del mod">
        <pc:chgData name="Meg Hemmerlein" userId="675d0259-84a2-4ee2-a6c1-034493f7a163" providerId="ADAL" clId="{012228E1-9350-51F7-B0E8-CFC048A68215}" dt="2026-07-27T22:43:07.247" v="244" actId="2696"/>
        <pc:sldMkLst>
          <pc:docMk/>
          <pc:sldMk cId="0" sldId="277"/>
        </pc:sldMkLst>
        <pc:spChg chg="mod">
          <ac:chgData name="Meg Hemmerlein" userId="675d0259-84a2-4ee2-a6c1-034493f7a163" providerId="ADAL" clId="{012228E1-9350-51F7-B0E8-CFC048A68215}" dt="2026-07-27T22:23:54.112" v="230" actId="27636"/>
          <ac:spMkLst>
            <pc:docMk/>
            <pc:sldMk cId="0" sldId="277"/>
            <ac:spMk id="89" creationId="{00000000-0000-0000-0000-000000000000}"/>
          </ac:spMkLst>
        </pc:spChg>
      </pc:sldChg>
      <pc:sldChg chg="add del">
        <pc:chgData name="Meg Hemmerlein" userId="675d0259-84a2-4ee2-a6c1-034493f7a163" providerId="ADAL" clId="{012228E1-9350-51F7-B0E8-CFC048A68215}" dt="2026-07-27T22:43:07.264" v="246" actId="2696"/>
        <pc:sldMkLst>
          <pc:docMk/>
          <pc:sldMk cId="0" sldId="278"/>
        </pc:sldMkLst>
      </pc:sldChg>
      <pc:sldChg chg="add del">
        <pc:chgData name="Meg Hemmerlein" userId="675d0259-84a2-4ee2-a6c1-034493f7a163" providerId="ADAL" clId="{012228E1-9350-51F7-B0E8-CFC048A68215}" dt="2026-07-27T22:43:07.272" v="248" actId="2696"/>
        <pc:sldMkLst>
          <pc:docMk/>
          <pc:sldMk cId="0" sldId="279"/>
        </pc:sldMkLst>
      </pc:sldChg>
      <pc:sldChg chg="add del">
        <pc:chgData name="Meg Hemmerlein" userId="675d0259-84a2-4ee2-a6c1-034493f7a163" providerId="ADAL" clId="{012228E1-9350-51F7-B0E8-CFC048A68215}" dt="2026-07-27T22:43:07.267" v="247" actId="2696"/>
        <pc:sldMkLst>
          <pc:docMk/>
          <pc:sldMk cId="0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B8723-9D73-E644-B10D-95E27CE39F1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5384D-0A75-F44E-8F9C-2044B1A6D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3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5384D-0A75-F44E-8F9C-2044B1A6DE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6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cd3d14f4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cd3d14f4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Have students look up what these are with people nearby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ce79b87e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ce79b87e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ce79b87ee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ce79b87ee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cd3d14f41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cd3d14f41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ce79b87e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ce79b87e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BD9A-08E8-A5EF-90F2-016C97087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880A2-5892-CE24-3D54-3B2F07D4D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94B8B-460C-0C5B-62AA-7E0918B3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0D37-D244-9956-24A1-315A7900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F43CD-66D8-DB0E-9A36-C4E3F20C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18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C32D-6DC0-D527-02FE-1F33E891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061E-7650-A72E-4610-FE82653C9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732B8-FBF3-E36F-818E-056BD480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5B0D5-CD24-8BC1-2284-49A99EA0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B4444-59E0-DF7B-0956-B40740A65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7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9D44-DDCE-B548-7E3B-E11DBA45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2057F-3541-4226-C4DC-CA91AE170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BC69C-F42A-0A66-8987-FEF5DCAB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B23C2-29FC-0B26-7D47-C6B3A1C6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6A0AD-A9A4-5A65-A242-282D4B4DD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5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73991-6371-6A4B-45B4-066A2D59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3A71B-27B9-B454-DB9B-80D0775F4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57CE3-C47F-E234-2547-CF0BD95F5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2FB2E-70BF-034D-F0D1-0A9FE402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B6EF7-5D92-ABB4-D886-142C7586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0929B-D04B-241A-6B64-B6A1D5040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1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F362-E4D6-48FB-012E-BF1AC3DD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F55C3-D28F-495D-68DB-EDF11DF69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C7A5A-72F7-E36F-AEEC-1D50B3729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92D9F-3D37-E626-ABA7-F6940FD40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2216EB-8E99-8EDD-2CA4-9B52F67B6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5D3883-E572-CA42-05DE-DBBB2613D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BBC88-FA68-2790-A21D-87BD035F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6A5984-89A5-CDA5-5707-64CDCE2F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9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C50AA-1C49-F72F-B212-CC487502B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8C84A-9980-65E1-30D0-200CDE0A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686CF-ECA3-37D7-954E-76120F12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A5063D-8F91-AE91-CFD3-E60E82D0F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8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80BBC-888C-1BC6-BB93-B8ABC856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69095-07A0-AA8E-72D1-2473AE996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EA713-E221-3BD8-5AC7-06D64C78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4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F786-2277-73C0-032E-B62BC8BB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294BE-6B4D-99E0-17D0-21D001AA1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C1AC5-E553-861C-2EB5-912440CC2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4418E-62C5-542A-CB1D-473182F3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3FC7-EF72-7D09-15C6-441F1AFE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E55FC-370D-EB33-BD8B-7A7CBAD99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85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D2BE-79BD-9866-17DE-17C3B114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907D5-0EDB-EEB6-820D-E2177A83B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1A9D7-151B-A341-6553-3AFBB67B0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B363E-33E0-99E7-AFBE-7BA7BA75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94A29-4E41-0DE4-F53A-65E0A464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10E95-79C3-7CE4-DE0D-560C655E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3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36C14-2C5B-D72E-BBDE-77838EA77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58E8-9A3F-884C-22A8-E5A651AE4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34BA3-9994-2DC4-7617-482E9EFC2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1DE5D-FF52-5B35-D7CA-CEE7C345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63914-3CB8-2575-CD70-263CE490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1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D6781-D421-8422-0A9C-B8086B943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2E620-8B21-24B5-7020-10DD8C287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B813A-CE50-F2F2-2F1C-0CB1FCDB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F704-8AF6-7500-9874-3109F0F6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9021-F852-64F5-A9BF-1746D82F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21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4729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585AB0-6EE1-3969-C43A-DC1299AA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12004-E491-6EF5-09A9-2CF3A6770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8882A-A8E0-EEB6-CA74-44736B8B8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35D1D-4579-C940-BD45-BF86EA8C73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9D357-6A69-1C5F-B7C9-76661A988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850AA-F831-8772-32E9-A0A19A5BA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CFF4A-D67A-AF47-B3F8-198B8AF26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6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sing R and ggplot2 for data art. – the R Graph Gallery">
            <a:extLst>
              <a:ext uri="{FF2B5EF4-FFF2-40B4-BE49-F238E27FC236}">
                <a16:creationId xmlns:a16="http://schemas.microsoft.com/office/drawing/2014/main" id="{37645CB6-A292-0A29-FF8F-D73B6874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04" y="733773"/>
            <a:ext cx="8608192" cy="49189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8575F-2EB6-2306-B21B-A410E88BF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1762"/>
            <a:ext cx="9144000" cy="1042987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Introduction to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73F6D-7003-DB96-D71E-CE649D058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16995"/>
            <a:ext cx="9144000" cy="471487"/>
          </a:xfrm>
        </p:spPr>
        <p:txBody>
          <a:bodyPr/>
          <a:lstStyle/>
          <a:p>
            <a:r>
              <a:rPr lang="en-US" dirty="0"/>
              <a:t>Mt Blue Sky Workshop 2026</a:t>
            </a:r>
          </a:p>
        </p:txBody>
      </p:sp>
    </p:spTree>
    <p:extLst>
      <p:ext uri="{BB962C8B-B14F-4D97-AF65-F5344CB8AC3E}">
        <p14:creationId xmlns:p14="http://schemas.microsoft.com/office/powerpoint/2010/main" val="14749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3E4A0-CF0E-AD10-7DCC-B2024937C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A7664-767D-91FB-3E83-355B4D5FD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6583" cy="4351338"/>
          </a:xfrm>
        </p:spPr>
        <p:txBody>
          <a:bodyPr/>
          <a:lstStyle/>
          <a:p>
            <a:r>
              <a:rPr lang="en-US" dirty="0"/>
              <a:t>R and other coding systems</a:t>
            </a:r>
          </a:p>
          <a:p>
            <a:endParaRPr lang="en-US" dirty="0"/>
          </a:p>
          <a:p>
            <a:r>
              <a:rPr lang="en-US" dirty="0"/>
              <a:t>Interfacing with R</a:t>
            </a:r>
          </a:p>
          <a:p>
            <a:pPr lvl="1"/>
            <a:r>
              <a:rPr lang="en-US" dirty="0"/>
              <a:t>Navigating R</a:t>
            </a:r>
          </a:p>
          <a:p>
            <a:pPr lvl="1"/>
            <a:r>
              <a:rPr lang="en-US" dirty="0"/>
              <a:t>Data types and objects</a:t>
            </a:r>
          </a:p>
          <a:p>
            <a:pPr lvl="1"/>
            <a:endParaRPr lang="en-US" dirty="0"/>
          </a:p>
          <a:p>
            <a:r>
              <a:rPr lang="en-US" dirty="0"/>
              <a:t>The package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0EED8B-C2CE-476B-D378-9235E92C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69" t="49935"/>
          <a:stretch>
            <a:fillRect/>
          </a:stretch>
        </p:blipFill>
        <p:spPr>
          <a:xfrm>
            <a:off x="5671892" y="885408"/>
            <a:ext cx="6361082" cy="529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07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2638-7CE6-9AD2-B1E8-382502A1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E86F7-3044-2580-FC87-27CBAB545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was developed in the 1990s-2000s at the University of Auckland</a:t>
            </a:r>
          </a:p>
          <a:p>
            <a:r>
              <a:rPr lang="en-US" dirty="0"/>
              <a:t>Open-source and interactive software</a:t>
            </a:r>
          </a:p>
        </p:txBody>
      </p:sp>
      <p:pic>
        <p:nvPicPr>
          <p:cNvPr id="4" name="Picture 3" descr="Broad types of software programs. R is an interpreted language. 'Point-and-click' programs, like Excel and Word, are often easiest for a new user to get started with, but are slower for the computer and are restricted in the functionality they offer. By contrast, compiled languages (like C and Java), assembly languages, and machine code are faster for the computer and allow you to create a wider range of things, but can take longer to code and take longer for a new user to learn to work with.">
            <a:extLst>
              <a:ext uri="{FF2B5EF4-FFF2-40B4-BE49-F238E27FC236}">
                <a16:creationId xmlns:a16="http://schemas.microsoft.com/office/drawing/2014/main" id="{1E2F6ABA-7029-C845-5B76-54846C1A4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839" y="2952766"/>
            <a:ext cx="7772400" cy="322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4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F81F-AF3C-6A00-E2A2-277B24DF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uses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11FFE-3A5D-840B-35C4-7C3F0514F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1696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Statisticians</a:t>
            </a:r>
          </a:p>
          <a:p>
            <a:r>
              <a:rPr lang="en-US" dirty="0"/>
              <a:t>Data scientists</a:t>
            </a:r>
          </a:p>
          <a:p>
            <a:r>
              <a:rPr lang="en-US" dirty="0"/>
              <a:t>Academic researchers</a:t>
            </a:r>
          </a:p>
          <a:p>
            <a:r>
              <a:rPr lang="en-US" dirty="0"/>
              <a:t>Bioinformaticians</a:t>
            </a:r>
          </a:p>
          <a:p>
            <a:r>
              <a:rPr lang="en-US" dirty="0"/>
              <a:t>Pharmaceutical and healthcare companies</a:t>
            </a:r>
          </a:p>
          <a:p>
            <a:r>
              <a:rPr lang="en-US" dirty="0"/>
              <a:t>Journalists and the media</a:t>
            </a:r>
          </a:p>
        </p:txBody>
      </p:sp>
      <p:pic>
        <p:nvPicPr>
          <p:cNvPr id="4" name="Picture 3" descr="R-projects">
            <a:extLst>
              <a:ext uri="{FF2B5EF4-FFF2-40B4-BE49-F238E27FC236}">
                <a16:creationId xmlns:a16="http://schemas.microsoft.com/office/drawing/2014/main" id="{1E436749-2E55-46D4-6D10-721F20F72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347" y="1825625"/>
            <a:ext cx="7705656" cy="385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17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9166-2FD6-A01F-1EE8-7EB11E26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vs Python</a:t>
            </a:r>
          </a:p>
        </p:txBody>
      </p:sp>
      <p:pic>
        <p:nvPicPr>
          <p:cNvPr id="4" name="Picture 3" descr="Choosing R vs. Python for Data Science - Matthew Renze">
            <a:extLst>
              <a:ext uri="{FF2B5EF4-FFF2-40B4-BE49-F238E27FC236}">
                <a16:creationId xmlns:a16="http://schemas.microsoft.com/office/drawing/2014/main" id="{BFBE9620-B268-8239-B280-20C624AB3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37" y="1672770"/>
            <a:ext cx="3512460" cy="351246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2EB365-A370-A3A1-748E-63657F8D5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520329"/>
              </p:ext>
            </p:extLst>
          </p:nvPr>
        </p:nvGraphicFramePr>
        <p:xfrm>
          <a:off x="838199" y="1690688"/>
          <a:ext cx="6264966" cy="442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322">
                  <a:extLst>
                    <a:ext uri="{9D8B030D-6E8A-4147-A177-3AD203B41FA5}">
                      <a16:colId xmlns:a16="http://schemas.microsoft.com/office/drawing/2014/main" val="1207999713"/>
                    </a:ext>
                  </a:extLst>
                </a:gridCol>
                <a:gridCol w="2088322">
                  <a:extLst>
                    <a:ext uri="{9D8B030D-6E8A-4147-A177-3AD203B41FA5}">
                      <a16:colId xmlns:a16="http://schemas.microsoft.com/office/drawing/2014/main" val="1346604537"/>
                    </a:ext>
                  </a:extLst>
                </a:gridCol>
                <a:gridCol w="2088322">
                  <a:extLst>
                    <a:ext uri="{9D8B030D-6E8A-4147-A177-3AD203B41FA5}">
                      <a16:colId xmlns:a16="http://schemas.microsoft.com/office/drawing/2014/main" val="2180284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171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Primary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Built by statisticians for statistics and data 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Built for general-purpose programming and readability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Ease of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Easy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091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Versatility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21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24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16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Community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Large and 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Large and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97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Open-source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257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Cross-platform (mac/PC)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852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23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0917F-093B-78E2-EF1D-9D50506F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5A70-7698-FEF4-2CAA-9F155FC9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vs Python (the engine)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6624A1-C775-84DE-81A2-1B8EFA2B7C55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1690688"/>
          <a:ext cx="6264966" cy="442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322">
                  <a:extLst>
                    <a:ext uri="{9D8B030D-6E8A-4147-A177-3AD203B41FA5}">
                      <a16:colId xmlns:a16="http://schemas.microsoft.com/office/drawing/2014/main" val="1207999713"/>
                    </a:ext>
                  </a:extLst>
                </a:gridCol>
                <a:gridCol w="2088322">
                  <a:extLst>
                    <a:ext uri="{9D8B030D-6E8A-4147-A177-3AD203B41FA5}">
                      <a16:colId xmlns:a16="http://schemas.microsoft.com/office/drawing/2014/main" val="1346604537"/>
                    </a:ext>
                  </a:extLst>
                </a:gridCol>
                <a:gridCol w="2088322">
                  <a:extLst>
                    <a:ext uri="{9D8B030D-6E8A-4147-A177-3AD203B41FA5}">
                      <a16:colId xmlns:a16="http://schemas.microsoft.com/office/drawing/2014/main" val="2180284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171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Primary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Built by statisticians for statistics and data 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Built for general-purpose programming and readability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Ease of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Easy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091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Versatility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21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24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16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Community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Large and 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Large and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97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Open-source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257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Cross-platform (mac/PC)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852103"/>
                  </a:ext>
                </a:extLst>
              </a:tr>
            </a:tbl>
          </a:graphicData>
        </a:graphic>
      </p:graphicFrame>
      <p:pic>
        <p:nvPicPr>
          <p:cNvPr id="3" name="Picture 2" descr="BEHIND THE CURTAIN PROJECT">
            <a:extLst>
              <a:ext uri="{FF2B5EF4-FFF2-40B4-BE49-F238E27FC236}">
                <a16:creationId xmlns:a16="http://schemas.microsoft.com/office/drawing/2014/main" id="{CDDC5AE1-8B4E-242A-1CB6-D99F47E0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532" y="983192"/>
            <a:ext cx="4602691" cy="3068460"/>
          </a:xfrm>
          <a:prstGeom prst="rect">
            <a:avLst/>
          </a:prstGeom>
        </p:spPr>
      </p:pic>
      <p:pic>
        <p:nvPicPr>
          <p:cNvPr id="6" name="Picture 5" descr="R and RStudio – Edinburgh Open Research">
            <a:extLst>
              <a:ext uri="{FF2B5EF4-FFF2-40B4-BE49-F238E27FC236}">
                <a16:creationId xmlns:a16="http://schemas.microsoft.com/office/drawing/2014/main" id="{7AF2FFD3-CDF8-3444-B704-F4E7A49448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430" b="30498"/>
          <a:stretch>
            <a:fillRect/>
          </a:stretch>
        </p:blipFill>
        <p:spPr>
          <a:xfrm>
            <a:off x="7613649" y="2921002"/>
            <a:ext cx="1556093" cy="685800"/>
          </a:xfrm>
          <a:prstGeom prst="rect">
            <a:avLst/>
          </a:prstGeom>
        </p:spPr>
      </p:pic>
      <p:pic>
        <p:nvPicPr>
          <p:cNvPr id="7" name="Picture 6" descr="Visual Studio Code (VS Code): Easier Vulnerability &amp; Code Smell Detection |  by A Developer 😀 | Medium">
            <a:extLst>
              <a:ext uri="{FF2B5EF4-FFF2-40B4-BE49-F238E27FC236}">
                <a16:creationId xmlns:a16="http://schemas.microsoft.com/office/drawing/2014/main" id="{827AA57D-EEB4-A5A9-7123-2CD08C10F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2" y="2921002"/>
            <a:ext cx="1556094" cy="73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C173-C37C-EDBA-635D-78781A50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interface RStudio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AD4F1-FC32-3821-4AE5-622F39B9D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5066" y="1825625"/>
            <a:ext cx="2988733" cy="454130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Source: </a:t>
            </a:r>
            <a:r>
              <a:rPr lang="en-US" dirty="0"/>
              <a:t>text editor (write scripts here)</a:t>
            </a:r>
          </a:p>
          <a:p>
            <a:r>
              <a:rPr lang="en-US" b="1" dirty="0"/>
              <a:t>Console: </a:t>
            </a:r>
            <a:r>
              <a:rPr lang="en-US" dirty="0"/>
              <a:t>Interactive text editor &amp; shows error messages</a:t>
            </a:r>
          </a:p>
          <a:p>
            <a:r>
              <a:rPr lang="en-US" b="1" dirty="0"/>
              <a:t>Environments: </a:t>
            </a:r>
            <a:r>
              <a:rPr lang="en-US" dirty="0"/>
              <a:t>will populate with R objects</a:t>
            </a:r>
          </a:p>
          <a:p>
            <a:r>
              <a:rPr lang="en-US" b="1" dirty="0"/>
              <a:t>Output:</a:t>
            </a:r>
          </a:p>
          <a:p>
            <a:pPr lvl="1"/>
            <a:r>
              <a:rPr lang="en-US" dirty="0"/>
              <a:t>Files tab</a:t>
            </a:r>
          </a:p>
          <a:p>
            <a:pPr lvl="1"/>
            <a:r>
              <a:rPr lang="en-US" dirty="0"/>
              <a:t>Plots tab</a:t>
            </a:r>
          </a:p>
          <a:p>
            <a:pPr lvl="1"/>
            <a:r>
              <a:rPr lang="en-US" dirty="0"/>
              <a:t>Packages tab</a:t>
            </a:r>
          </a:p>
          <a:p>
            <a:pPr lvl="1"/>
            <a:r>
              <a:rPr lang="en-US" dirty="0"/>
              <a:t>Help tab</a:t>
            </a:r>
          </a:p>
        </p:txBody>
      </p:sp>
      <p:pic>
        <p:nvPicPr>
          <p:cNvPr id="4" name="Picture 3" descr="Get Started – RStudio User Guide">
            <a:extLst>
              <a:ext uri="{FF2B5EF4-FFF2-40B4-BE49-F238E27FC236}">
                <a16:creationId xmlns:a16="http://schemas.microsoft.com/office/drawing/2014/main" id="{14BBF79D-F8D7-4E11-1574-E7831271F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16" y="1522044"/>
            <a:ext cx="6848983" cy="514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8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0CD7-90F8-8A2E-7FED-3CF4EA8B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34B2-3D01-548F-AB92-4FD8FEB7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interface RStudio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249DC-1FC7-4618-F615-62AEA778B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5066" y="1825625"/>
            <a:ext cx="2988733" cy="454130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Source: </a:t>
            </a:r>
            <a:r>
              <a:rPr lang="en-US" dirty="0"/>
              <a:t>text editor (write scripts here)</a:t>
            </a:r>
          </a:p>
          <a:p>
            <a:r>
              <a:rPr lang="en-US" b="1" dirty="0"/>
              <a:t>Console: </a:t>
            </a:r>
            <a:r>
              <a:rPr lang="en-US" dirty="0"/>
              <a:t>Interactive text editor &amp; shows error messages</a:t>
            </a:r>
          </a:p>
          <a:p>
            <a:r>
              <a:rPr lang="en-US" b="1" dirty="0"/>
              <a:t>Environments: </a:t>
            </a:r>
            <a:r>
              <a:rPr lang="en-US" dirty="0"/>
              <a:t>will populate with R objects</a:t>
            </a:r>
          </a:p>
          <a:p>
            <a:r>
              <a:rPr lang="en-US" b="1" dirty="0"/>
              <a:t>Output:</a:t>
            </a:r>
          </a:p>
          <a:p>
            <a:pPr lvl="1"/>
            <a:r>
              <a:rPr lang="en-US" dirty="0"/>
              <a:t>Files tab</a:t>
            </a:r>
          </a:p>
          <a:p>
            <a:pPr lvl="1"/>
            <a:r>
              <a:rPr lang="en-US" dirty="0"/>
              <a:t>Plots tab</a:t>
            </a:r>
          </a:p>
          <a:p>
            <a:pPr lvl="1"/>
            <a:r>
              <a:rPr lang="en-US" dirty="0"/>
              <a:t>Packages tab</a:t>
            </a:r>
          </a:p>
          <a:p>
            <a:pPr lvl="1"/>
            <a:r>
              <a:rPr lang="en-US" dirty="0"/>
              <a:t>Help tab</a:t>
            </a:r>
          </a:p>
        </p:txBody>
      </p:sp>
      <p:pic>
        <p:nvPicPr>
          <p:cNvPr id="4" name="Picture 3" descr="Get Started – RStudio User Guide">
            <a:extLst>
              <a:ext uri="{FF2B5EF4-FFF2-40B4-BE49-F238E27FC236}">
                <a16:creationId xmlns:a16="http://schemas.microsoft.com/office/drawing/2014/main" id="{3342AC30-52DD-C6AD-BCC6-103D193F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063" b="32866"/>
          <a:stretch>
            <a:fillRect/>
          </a:stretch>
        </p:blipFill>
        <p:spPr>
          <a:xfrm>
            <a:off x="936417" y="1522044"/>
            <a:ext cx="3762584" cy="345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66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Data types</a:t>
            </a:r>
            <a:endParaRPr dirty="0"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2098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r>
              <a:rPr lang="en" dirty="0"/>
              <a:t>Logical 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Numeric </a:t>
            </a:r>
            <a:endParaRPr dirty="0"/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dirty="0"/>
              <a:t>Double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Integer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Character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Factor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10" name="Google Shape;110;p20"/>
          <p:cNvSpPr txBox="1"/>
          <p:nvPr/>
        </p:nvSpPr>
        <p:spPr>
          <a:xfrm>
            <a:off x="4238567" y="2936401"/>
            <a:ext cx="7174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dirty="0">
                <a:solidFill>
                  <a:schemeClr val="dk2"/>
                </a:solidFill>
                <a:latin typeface="Aptos" panose="020B0004020202020204" pitchFamily="34" charset="0"/>
              </a:rPr>
              <a:t>Divide into groups to define each of these. What are examples of each type?</a:t>
            </a:r>
            <a:endParaRPr sz="2400" dirty="0">
              <a:solidFill>
                <a:schemeClr val="dk2"/>
              </a:solidFill>
              <a:latin typeface="Aptos" panose="020B0004020202020204" pitchFamily="34" charset="0"/>
            </a:endParaRPr>
          </a:p>
          <a:p>
            <a:pPr algn="ctr"/>
            <a:endParaRPr sz="2400" dirty="0">
              <a:solidFill>
                <a:schemeClr val="dk2"/>
              </a:solidFill>
              <a:latin typeface="Aptos" panose="020B0004020202020204" pitchFamily="34" charset="0"/>
            </a:endParaRPr>
          </a:p>
          <a:p>
            <a:pPr algn="ctr"/>
            <a:r>
              <a:rPr lang="en" sz="2400" dirty="0">
                <a:solidFill>
                  <a:schemeClr val="dk2"/>
                </a:solidFill>
                <a:latin typeface="Aptos" panose="020B0004020202020204" pitchFamily="34" charset="0"/>
              </a:rPr>
              <a:t>(3min)</a:t>
            </a:r>
            <a:endParaRPr sz="2400" dirty="0">
              <a:solidFill>
                <a:schemeClr val="dk2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Data types</a:t>
            </a:r>
            <a:endParaRPr dirty="0"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r>
              <a:rPr lang="en" dirty="0"/>
              <a:t>Logical: </a:t>
            </a:r>
            <a:r>
              <a:rPr lang="en" dirty="0" err="1"/>
              <a:t>boolean</a:t>
            </a:r>
            <a:r>
              <a:rPr lang="en" dirty="0"/>
              <a:t> indicator data type; 0,1 or FALSE, TRUE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Numeric: general number; 0.111, 3, 400</a:t>
            </a:r>
            <a:endParaRPr dirty="0"/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dirty="0"/>
              <a:t>Double: default type of numeric; 0.002, 1.20 (1 is also stored as double)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Integer: specific type of numeric; 1L, 4L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Character: string of letters, characters, words; “hello”, “Y”, “,”, “3”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Factor: meaningful categories with levels; “Strain A”, “Strain B”, “Strain C”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l="16472"/>
          <a:stretch/>
        </p:blipFill>
        <p:spPr>
          <a:xfrm>
            <a:off x="7077335" y="0"/>
            <a:ext cx="497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2266500" y="146233"/>
            <a:ext cx="47376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One value, one data type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2266500" y="741434"/>
            <a:ext cx="47376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One dimension, one data type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2266500" y="1365912"/>
            <a:ext cx="47376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Two dimensions, one data type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2266500" y="2585578"/>
            <a:ext cx="4737600" cy="94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Two dimensions, multiple data types (by columns)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2266500" y="4778512"/>
            <a:ext cx="4737600" cy="94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Multiple dimensions, multiple data types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407900" y="146233"/>
            <a:ext cx="47376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Scalar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407900" y="741433"/>
            <a:ext cx="47376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Vector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407900" y="1365911"/>
            <a:ext cx="47376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Matrix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407900" y="2585577"/>
            <a:ext cx="47376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 err="1">
                <a:latin typeface="Aptos" panose="020B0004020202020204" pitchFamily="34" charset="0"/>
              </a:rPr>
              <a:t>Dataframe</a:t>
            </a:r>
            <a:endParaRPr sz="2267" dirty="0">
              <a:latin typeface="Aptos" panose="020B0004020202020204" pitchFamily="34" charset="0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407900" y="4778511"/>
            <a:ext cx="47376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267" dirty="0">
                <a:latin typeface="Aptos" panose="020B0004020202020204" pitchFamily="34" charset="0"/>
              </a:rPr>
              <a:t>List</a:t>
            </a:r>
            <a:endParaRPr sz="2267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415599" y="593367"/>
            <a:ext cx="3798591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Data frames</a:t>
            </a:r>
            <a:endParaRPr dirty="0"/>
          </a:p>
        </p:txBody>
      </p:sp>
      <p:sp>
        <p:nvSpPr>
          <p:cNvPr id="137" name="Google Shape;137;p23"/>
          <p:cNvSpPr txBox="1"/>
          <p:nvPr/>
        </p:nvSpPr>
        <p:spPr>
          <a:xfrm>
            <a:off x="9039600" y="460701"/>
            <a:ext cx="1882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solidFill>
                  <a:schemeClr val="dk2"/>
                </a:solidFill>
                <a:latin typeface="Aptos" panose="020B0004020202020204" pitchFamily="34" charset="0"/>
              </a:rPr>
              <a:t>header row</a:t>
            </a:r>
            <a:endParaRPr sz="2400" dirty="0">
              <a:solidFill>
                <a:schemeClr val="dk2"/>
              </a:solidFill>
              <a:latin typeface="Aptos" panose="020B0004020202020204" pitchFamily="34" charset="0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11017568" y="737133"/>
            <a:ext cx="624833" cy="1053067"/>
          </a:xfrm>
          <a:custGeom>
            <a:avLst/>
            <a:gdLst/>
            <a:ahLst/>
            <a:cxnLst/>
            <a:rect l="l" t="t" r="r" b="b"/>
            <a:pathLst>
              <a:path w="18745" h="31592" extrusionOk="0">
                <a:moveTo>
                  <a:pt x="0" y="0"/>
                </a:moveTo>
                <a:cubicBezTo>
                  <a:pt x="5532" y="1384"/>
                  <a:pt x="12158" y="1497"/>
                  <a:pt x="16190" y="5529"/>
                </a:cubicBezTo>
                <a:cubicBezTo>
                  <a:pt x="19021" y="8360"/>
                  <a:pt x="19136" y="13491"/>
                  <a:pt x="18165" y="17375"/>
                </a:cubicBezTo>
                <a:cubicBezTo>
                  <a:pt x="16872" y="22542"/>
                  <a:pt x="11090" y="26351"/>
                  <a:pt x="5923" y="27643"/>
                </a:cubicBezTo>
                <a:cubicBezTo>
                  <a:pt x="4901" y="27898"/>
                  <a:pt x="4870" y="24484"/>
                  <a:pt x="5923" y="24484"/>
                </a:cubicBezTo>
                <a:cubicBezTo>
                  <a:pt x="7634" y="24484"/>
                  <a:pt x="3949" y="27511"/>
                  <a:pt x="3949" y="29222"/>
                </a:cubicBezTo>
                <a:cubicBezTo>
                  <a:pt x="3949" y="30988"/>
                  <a:pt x="7108" y="30801"/>
                  <a:pt x="8687" y="31592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5154800" y="4823467"/>
            <a:ext cx="1882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solidFill>
                  <a:schemeClr val="dk2"/>
                </a:solidFill>
                <a:latin typeface="Aptos" panose="020B0004020202020204" pitchFamily="34" charset="0"/>
              </a:rPr>
              <a:t>columns</a:t>
            </a:r>
            <a:endParaRPr sz="2400" dirty="0">
              <a:solidFill>
                <a:schemeClr val="dk2"/>
              </a:solidFill>
              <a:latin typeface="Aptos" panose="020B0004020202020204" pitchFamily="34" charset="0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158567" y="4078900"/>
            <a:ext cx="1882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>
                <a:solidFill>
                  <a:schemeClr val="dk2"/>
                </a:solidFill>
                <a:latin typeface="Aptos" panose="020B0004020202020204" pitchFamily="34" charset="0"/>
              </a:rPr>
              <a:t>rows</a:t>
            </a:r>
            <a:endParaRPr sz="2400" dirty="0">
              <a:solidFill>
                <a:schemeClr val="dk2"/>
              </a:solidFill>
              <a:latin typeface="Aptos" panose="020B0004020202020204" pitchFamily="34" charset="0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3146000" y="3896301"/>
            <a:ext cx="2000800" cy="960900"/>
          </a:xfrm>
          <a:custGeom>
            <a:avLst/>
            <a:gdLst/>
            <a:ahLst/>
            <a:cxnLst/>
            <a:rect l="l" t="t" r="r" b="b"/>
            <a:pathLst>
              <a:path w="60024" h="28827" extrusionOk="0">
                <a:moveTo>
                  <a:pt x="0" y="0"/>
                </a:moveTo>
                <a:cubicBezTo>
                  <a:pt x="20403" y="8740"/>
                  <a:pt x="40171" y="18901"/>
                  <a:pt x="60024" y="28827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42" name="Google Shape;142;p23"/>
          <p:cNvSpPr/>
          <p:nvPr/>
        </p:nvSpPr>
        <p:spPr>
          <a:xfrm rot="-3073378">
            <a:off x="6640021" y="3906245"/>
            <a:ext cx="2000828" cy="960913"/>
          </a:xfrm>
          <a:custGeom>
            <a:avLst/>
            <a:gdLst/>
            <a:ahLst/>
            <a:cxnLst/>
            <a:rect l="l" t="t" r="r" b="b"/>
            <a:pathLst>
              <a:path w="60024" h="28827" extrusionOk="0">
                <a:moveTo>
                  <a:pt x="0" y="0"/>
                </a:moveTo>
                <a:cubicBezTo>
                  <a:pt x="20403" y="8740"/>
                  <a:pt x="40171" y="18901"/>
                  <a:pt x="60024" y="28827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5357400" y="3883134"/>
            <a:ext cx="329067" cy="895100"/>
          </a:xfrm>
          <a:custGeom>
            <a:avLst/>
            <a:gdLst/>
            <a:ahLst/>
            <a:cxnLst/>
            <a:rect l="l" t="t" r="r" b="b"/>
            <a:pathLst>
              <a:path w="9872" h="26853" extrusionOk="0">
                <a:moveTo>
                  <a:pt x="0" y="0"/>
                </a:moveTo>
                <a:cubicBezTo>
                  <a:pt x="3017" y="9047"/>
                  <a:pt x="6863" y="17803"/>
                  <a:pt x="9872" y="26853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44" name="Google Shape;144;p23"/>
          <p:cNvSpPr/>
          <p:nvPr/>
        </p:nvSpPr>
        <p:spPr>
          <a:xfrm rot="-8426720">
            <a:off x="6218752" y="3883143"/>
            <a:ext cx="329059" cy="895080"/>
          </a:xfrm>
          <a:custGeom>
            <a:avLst/>
            <a:gdLst/>
            <a:ahLst/>
            <a:cxnLst/>
            <a:rect l="l" t="t" r="r" b="b"/>
            <a:pathLst>
              <a:path w="9872" h="26853" extrusionOk="0">
                <a:moveTo>
                  <a:pt x="0" y="0"/>
                </a:moveTo>
                <a:cubicBezTo>
                  <a:pt x="3017" y="9047"/>
                  <a:pt x="6863" y="17803"/>
                  <a:pt x="9872" y="26853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751432" y="3619867"/>
            <a:ext cx="433233" cy="552867"/>
          </a:xfrm>
          <a:custGeom>
            <a:avLst/>
            <a:gdLst/>
            <a:ahLst/>
            <a:cxnLst/>
            <a:rect l="l" t="t" r="r" b="b"/>
            <a:pathLst>
              <a:path w="12997" h="16586" extrusionOk="0">
                <a:moveTo>
                  <a:pt x="1151" y="16586"/>
                </a:moveTo>
                <a:cubicBezTo>
                  <a:pt x="27" y="13214"/>
                  <a:pt x="-677" y="8971"/>
                  <a:pt x="1151" y="5923"/>
                </a:cubicBezTo>
                <a:cubicBezTo>
                  <a:pt x="3422" y="2137"/>
                  <a:pt x="8582" y="0"/>
                  <a:pt x="12997" y="0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275345" y="2198234"/>
            <a:ext cx="843500" cy="1974500"/>
          </a:xfrm>
          <a:custGeom>
            <a:avLst/>
            <a:gdLst/>
            <a:ahLst/>
            <a:cxnLst/>
            <a:rect l="l" t="t" r="r" b="b"/>
            <a:pathLst>
              <a:path w="25305" h="59235" extrusionOk="0">
                <a:moveTo>
                  <a:pt x="4377" y="59235"/>
                </a:moveTo>
                <a:cubicBezTo>
                  <a:pt x="1681" y="49800"/>
                  <a:pt x="1435" y="39806"/>
                  <a:pt x="823" y="30012"/>
                </a:cubicBezTo>
                <a:cubicBezTo>
                  <a:pt x="336" y="22221"/>
                  <a:pt x="-1494" y="12957"/>
                  <a:pt x="3192" y="6714"/>
                </a:cubicBezTo>
                <a:cubicBezTo>
                  <a:pt x="7816" y="553"/>
                  <a:pt x="17602" y="0"/>
                  <a:pt x="25306" y="0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476021" y="2872224"/>
            <a:ext cx="656000" cy="1287333"/>
          </a:xfrm>
          <a:custGeom>
            <a:avLst/>
            <a:gdLst/>
            <a:ahLst/>
            <a:cxnLst/>
            <a:rect l="l" t="t" r="r" b="b"/>
            <a:pathLst>
              <a:path w="19680" h="38620" extrusionOk="0">
                <a:moveTo>
                  <a:pt x="4279" y="38620"/>
                </a:moveTo>
                <a:cubicBezTo>
                  <a:pt x="2413" y="27427"/>
                  <a:pt x="-2558" y="15090"/>
                  <a:pt x="1910" y="4659"/>
                </a:cubicBezTo>
                <a:cubicBezTo>
                  <a:pt x="4311" y="-946"/>
                  <a:pt x="13582" y="315"/>
                  <a:pt x="19680" y="315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graphicFrame>
        <p:nvGraphicFramePr>
          <p:cNvPr id="148" name="Google Shape;148;p23"/>
          <p:cNvGraphicFramePr/>
          <p:nvPr/>
        </p:nvGraphicFramePr>
        <p:xfrm>
          <a:off x="1270000" y="1536634"/>
          <a:ext cx="9652000" cy="24382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ID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Class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Age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Score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 err="1">
                          <a:latin typeface="Aptos" panose="020B0004020202020204" pitchFamily="34" charset="0"/>
                        </a:rPr>
                        <a:t>Score_C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0001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“Johnson”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27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4.3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“B”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0098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“Johnson”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24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5.0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“A”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0070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“Sydney”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22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2.4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“D”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415599" y="593367"/>
            <a:ext cx="3454035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Data frames</a:t>
            </a:r>
            <a:endParaRPr dirty="0"/>
          </a:p>
        </p:txBody>
      </p:sp>
      <p:graphicFrame>
        <p:nvGraphicFramePr>
          <p:cNvPr id="154" name="Google Shape;154;p24"/>
          <p:cNvGraphicFramePr/>
          <p:nvPr/>
        </p:nvGraphicFramePr>
        <p:xfrm>
          <a:off x="1270000" y="1536634"/>
          <a:ext cx="9652000" cy="24382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ID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Class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Age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Score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 err="1">
                          <a:latin typeface="Aptos" panose="020B0004020202020204" pitchFamily="34" charset="0"/>
                        </a:rPr>
                        <a:t>Score_C</a:t>
                      </a:r>
                      <a:endParaRPr sz="2400" b="1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0001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“Johnson”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27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4.3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“B”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0098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“Johnson”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24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5.0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“A”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0070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“Sydney”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22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2.4</a:t>
                      </a:r>
                      <a:endParaRPr sz="2400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0" i="0" dirty="0">
                          <a:latin typeface="Aptos" panose="020B0004020202020204" pitchFamily="34" charset="0"/>
                        </a:rPr>
                        <a:t>“D”</a:t>
                      </a: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415600" y="4558747"/>
            <a:ext cx="11360800" cy="193078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 marL="0" indent="0">
              <a:buNone/>
            </a:pPr>
            <a:r>
              <a:rPr lang="en" dirty="0"/>
              <a:t>Q1. What is each column’s data type?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Q2. If we were to make one of these a factor, which would we do?</a:t>
            </a:r>
            <a:endParaRPr dirty="0"/>
          </a:p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– discuss with someone nearby –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93B8-6D08-4052-B526-9AADCC09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“package” system of R</a:t>
            </a:r>
          </a:p>
        </p:txBody>
      </p:sp>
      <p:pic>
        <p:nvPicPr>
          <p:cNvPr id="5" name="Picture 4" descr="Simply White Wedding Cake – Cutter &amp; Squidge">
            <a:extLst>
              <a:ext uri="{FF2B5EF4-FFF2-40B4-BE49-F238E27FC236}">
                <a16:creationId xmlns:a16="http://schemas.microsoft.com/office/drawing/2014/main" id="{08C473EA-881F-0484-E1A0-F51C4DF97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74" y="1903751"/>
            <a:ext cx="4129791" cy="4129791"/>
          </a:xfrm>
          <a:prstGeom prst="rect">
            <a:avLst/>
          </a:prstGeom>
        </p:spPr>
      </p:pic>
      <p:pic>
        <p:nvPicPr>
          <p:cNvPr id="7" name="Picture 6" descr="Custom Bow — Sweet Heather Anne Cake Studio">
            <a:extLst>
              <a:ext uri="{FF2B5EF4-FFF2-40B4-BE49-F238E27FC236}">
                <a16:creationId xmlns:a16="http://schemas.microsoft.com/office/drawing/2014/main" id="{07D679A7-58C7-8BBF-3C3F-4867B7A84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14" y="1903751"/>
            <a:ext cx="4129792" cy="412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45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2645-DF87-3F2C-1F38-9DFF9DEF8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C4A7-93D5-135C-0893-316D8A41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“package” system of R</a:t>
            </a:r>
          </a:p>
        </p:txBody>
      </p:sp>
      <p:pic>
        <p:nvPicPr>
          <p:cNvPr id="5" name="Picture 4" descr="Simply White Wedding Cake – Cutter &amp; Squidge">
            <a:extLst>
              <a:ext uri="{FF2B5EF4-FFF2-40B4-BE49-F238E27FC236}">
                <a16:creationId xmlns:a16="http://schemas.microsoft.com/office/drawing/2014/main" id="{99E0CF06-09E7-2BE1-F664-C2B3FB18B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74" y="1903751"/>
            <a:ext cx="4129791" cy="4129791"/>
          </a:xfrm>
          <a:prstGeom prst="rect">
            <a:avLst/>
          </a:prstGeom>
        </p:spPr>
      </p:pic>
      <p:pic>
        <p:nvPicPr>
          <p:cNvPr id="7" name="Picture 6" descr="Custom Bow — Sweet Heather Anne Cake Studio">
            <a:extLst>
              <a:ext uri="{FF2B5EF4-FFF2-40B4-BE49-F238E27FC236}">
                <a16:creationId xmlns:a16="http://schemas.microsoft.com/office/drawing/2014/main" id="{A5393EDA-7303-F5C3-C016-B9D6D417A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14" y="1903751"/>
            <a:ext cx="4129792" cy="4129792"/>
          </a:xfrm>
          <a:prstGeom prst="rect">
            <a:avLst/>
          </a:prstGeom>
        </p:spPr>
      </p:pic>
      <p:pic>
        <p:nvPicPr>
          <p:cNvPr id="8" name="Picture 7" descr="2.1 Installing Base-R and RStudio | YaRrr! The Pirate's Guide to R">
            <a:extLst>
              <a:ext uri="{FF2B5EF4-FFF2-40B4-BE49-F238E27FC236}">
                <a16:creationId xmlns:a16="http://schemas.microsoft.com/office/drawing/2014/main" id="{952D59AF-1C3F-2856-EAA0-A04DA8446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463" y="2068643"/>
            <a:ext cx="1769077" cy="1547942"/>
          </a:xfrm>
          <a:prstGeom prst="rect">
            <a:avLst/>
          </a:prstGeom>
        </p:spPr>
      </p:pic>
      <p:pic>
        <p:nvPicPr>
          <p:cNvPr id="3" name="Picture 2" descr="Favorite R Packages | Roel Verbelen">
            <a:extLst>
              <a:ext uri="{FF2B5EF4-FFF2-40B4-BE49-F238E27FC236}">
                <a16:creationId xmlns:a16="http://schemas.microsoft.com/office/drawing/2014/main" id="{10557AAC-6E50-05F0-7D65-5038DE309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08" y="668142"/>
            <a:ext cx="4921770" cy="496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12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8B07-C813-9DCD-D25B-32621E2D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load packages</a:t>
            </a:r>
          </a:p>
        </p:txBody>
      </p:sp>
      <p:pic>
        <p:nvPicPr>
          <p:cNvPr id="4" name="Picture 3" descr="Install a package (with 'install.packages') to get it onto your computer. Load it (with 'library') to get it into your R session.">
            <a:extLst>
              <a:ext uri="{FF2B5EF4-FFF2-40B4-BE49-F238E27FC236}">
                <a16:creationId xmlns:a16="http://schemas.microsoft.com/office/drawing/2014/main" id="{C7E33F92-2D2D-1A3E-A9FF-3DD9FEE2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2" y="2055042"/>
            <a:ext cx="5423718" cy="4006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D2A34B-AB46-71B2-F811-A2C8FC7B5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294" y="1407881"/>
            <a:ext cx="5691573" cy="2909593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9FD69427-7880-C7B9-DDBC-4B76CE16C475}"/>
              </a:ext>
            </a:extLst>
          </p:cNvPr>
          <p:cNvSpPr/>
          <p:nvPr/>
        </p:nvSpPr>
        <p:spPr>
          <a:xfrm>
            <a:off x="7277493" y="4920792"/>
            <a:ext cx="2154374" cy="1140659"/>
          </a:xfrm>
          <a:prstGeom prst="wedgeEllipseCallout">
            <a:avLst>
              <a:gd name="adj1" fmla="val 18180"/>
              <a:gd name="adj2" fmla="val -94117"/>
            </a:avLst>
          </a:prstGeom>
          <a:ln>
            <a:solidFill>
              <a:srgbClr val="0494A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494A2"/>
                </a:solidFill>
              </a:rPr>
              <a:t>23,908 packages in CRAN!</a:t>
            </a:r>
          </a:p>
        </p:txBody>
      </p:sp>
    </p:spTree>
    <p:extLst>
      <p:ext uri="{BB962C8B-B14F-4D97-AF65-F5344CB8AC3E}">
        <p14:creationId xmlns:p14="http://schemas.microsoft.com/office/powerpoint/2010/main" val="1029108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937F5-796B-B23E-29C2-A70BC798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A945-CF24-DD75-AA6C-78681B1FB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load packages</a:t>
            </a:r>
          </a:p>
        </p:txBody>
      </p:sp>
      <p:pic>
        <p:nvPicPr>
          <p:cNvPr id="4" name="Picture 3" descr="Install a package (with 'install.packages') to get it onto your computer. Load it (with 'library') to get it into your R session.">
            <a:extLst>
              <a:ext uri="{FF2B5EF4-FFF2-40B4-BE49-F238E27FC236}">
                <a16:creationId xmlns:a16="http://schemas.microsoft.com/office/drawing/2014/main" id="{FC3C46FF-5B3D-ED2D-C4D7-899BEB6E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2" y="2055042"/>
            <a:ext cx="5423718" cy="4006409"/>
          </a:xfrm>
          <a:prstGeom prst="rect">
            <a:avLst/>
          </a:prstGeom>
        </p:spPr>
      </p:pic>
      <p:pic>
        <p:nvPicPr>
          <p:cNvPr id="3" name="Picture 2" descr="2.3 Packages | YaRrr! The Pirate's Guide to R">
            <a:extLst>
              <a:ext uri="{FF2B5EF4-FFF2-40B4-BE49-F238E27FC236}">
                <a16:creationId xmlns:a16="http://schemas.microsoft.com/office/drawing/2014/main" id="{0200ADF0-F7B7-81B6-081F-7C47651F1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083" y="1137364"/>
            <a:ext cx="4531783" cy="492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39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B958-196B-3091-C8D5-5B2F6FE2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Get Started in R!</a:t>
            </a:r>
          </a:p>
        </p:txBody>
      </p:sp>
      <p:pic>
        <p:nvPicPr>
          <p:cNvPr id="9" name="Picture 8" descr="How to Print &quot;Hello World&quot; in Top 12 Most Popular Programming Languages |  Towards Data Science">
            <a:extLst>
              <a:ext uri="{FF2B5EF4-FFF2-40B4-BE49-F238E27FC236}">
                <a16:creationId xmlns:a16="http://schemas.microsoft.com/office/drawing/2014/main" id="{FC49FC41-10EC-1B6A-94D1-342BF1128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2052686"/>
            <a:ext cx="65024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94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565</Words>
  <Application>Microsoft Macintosh PowerPoint</Application>
  <PresentationFormat>Widescreen</PresentationFormat>
  <Paragraphs>177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Introduction to R</vt:lpstr>
      <vt:lpstr>Outline</vt:lpstr>
      <vt:lpstr>What is R?</vt:lpstr>
      <vt:lpstr>Who uses R?</vt:lpstr>
      <vt:lpstr>R vs Python</vt:lpstr>
      <vt:lpstr>R vs Python (the engine)</vt:lpstr>
      <vt:lpstr>How to interface RStudio</vt:lpstr>
      <vt:lpstr>How to interface RStudio</vt:lpstr>
      <vt:lpstr>Data types</vt:lpstr>
      <vt:lpstr>Data types</vt:lpstr>
      <vt:lpstr>PowerPoint Presentation</vt:lpstr>
      <vt:lpstr>Data frames</vt:lpstr>
      <vt:lpstr>Data frames</vt:lpstr>
      <vt:lpstr>The “package” system of R</vt:lpstr>
      <vt:lpstr>The “package” system of R</vt:lpstr>
      <vt:lpstr>How to load packages</vt:lpstr>
      <vt:lpstr>How to load packages</vt:lpstr>
      <vt:lpstr>Let’s Get Started in 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Hemmerlein</dc:creator>
  <cp:lastModifiedBy>Meg Hemmerlein</cp:lastModifiedBy>
  <cp:revision>1</cp:revision>
  <dcterms:created xsi:type="dcterms:W3CDTF">2026-06-17T15:40:57Z</dcterms:created>
  <dcterms:modified xsi:type="dcterms:W3CDTF">2026-07-27T22:43:08Z</dcterms:modified>
</cp:coreProperties>
</file>